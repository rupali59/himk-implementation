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304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333" r:id="rId14"/>
    <p:sldId id="306" r:id="rId15"/>
    <p:sldId id="307" r:id="rId16"/>
    <p:sldId id="308" r:id="rId17"/>
    <p:sldId id="309" r:id="rId18"/>
    <p:sldId id="310" r:id="rId19"/>
    <p:sldId id="313" r:id="rId20"/>
    <p:sldId id="314" r:id="rId21"/>
    <p:sldId id="267" r:id="rId22"/>
    <p:sldId id="276" r:id="rId23"/>
    <p:sldId id="316" r:id="rId24"/>
    <p:sldId id="326" r:id="rId25"/>
    <p:sldId id="320" r:id="rId26"/>
    <p:sldId id="322" r:id="rId27"/>
    <p:sldId id="323" r:id="rId28"/>
    <p:sldId id="324" r:id="rId29"/>
    <p:sldId id="270" r:id="rId30"/>
    <p:sldId id="269" r:id="rId31"/>
    <p:sldId id="283" r:id="rId32"/>
    <p:sldId id="327" r:id="rId33"/>
    <p:sldId id="272" r:id="rId34"/>
    <p:sldId id="328" r:id="rId35"/>
    <p:sldId id="329" r:id="rId36"/>
    <p:sldId id="330" r:id="rId37"/>
    <p:sldId id="331" r:id="rId38"/>
    <p:sldId id="332" r:id="rId39"/>
    <p:sldId id="273" r:id="rId40"/>
    <p:sldId id="312" r:id="rId41"/>
    <p:sldId id="274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19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278" y="7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65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tint val="65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tint val="65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65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hade val="65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shade val="65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200934656"/>
        <c:axId val="200930736"/>
        <c:axId val="0"/>
      </c:bar3DChart>
      <c:catAx>
        <c:axId val="20093465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0930736"/>
        <c:crosses val="autoZero"/>
        <c:auto val="1"/>
        <c:lblAlgn val="ctr"/>
        <c:lblOffset val="100"/>
        <c:noMultiLvlLbl val="0"/>
      </c:catAx>
      <c:valAx>
        <c:axId val="20093073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0934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4099525627883544"/>
          <c:y val="0.36936530991494537"/>
          <c:w val="0.85229068389836293"/>
          <c:h val="0.5535550218668559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65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tint val="65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tint val="65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65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hade val="65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shade val="65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200931520"/>
        <c:axId val="200929952"/>
        <c:axId val="0"/>
      </c:bar3DChart>
      <c:catAx>
        <c:axId val="20093152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0929952"/>
        <c:crosses val="autoZero"/>
        <c:auto val="1"/>
        <c:lblAlgn val="ctr"/>
        <c:lblOffset val="100"/>
        <c:noMultiLvlLbl val="0"/>
      </c:catAx>
      <c:valAx>
        <c:axId val="200929952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093152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65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tint val="65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tint val="65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65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hade val="65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shade val="65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200933088"/>
        <c:axId val="200933480"/>
        <c:axId val="0"/>
      </c:bar3DChart>
      <c:catAx>
        <c:axId val="20093308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0933480"/>
        <c:crosses val="autoZero"/>
        <c:auto val="1"/>
        <c:lblAlgn val="ctr"/>
        <c:lblOffset val="100"/>
        <c:noMultiLvlLbl val="0"/>
      </c:catAx>
      <c:valAx>
        <c:axId val="20093348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09330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65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tint val="65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tint val="65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65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hade val="65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shade val="65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200936224"/>
        <c:axId val="200938184"/>
        <c:axId val="0"/>
      </c:bar3DChart>
      <c:catAx>
        <c:axId val="20093622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0938184"/>
        <c:crosses val="autoZero"/>
        <c:auto val="1"/>
        <c:lblAlgn val="ctr"/>
        <c:lblOffset val="100"/>
        <c:noMultiLvlLbl val="0"/>
      </c:catAx>
      <c:valAx>
        <c:axId val="20093818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0936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65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tint val="65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tint val="65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65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hade val="65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shade val="65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450197040"/>
        <c:axId val="450206448"/>
        <c:axId val="0"/>
      </c:bar3DChart>
      <c:catAx>
        <c:axId val="45019704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50206448"/>
        <c:crosses val="autoZero"/>
        <c:auto val="1"/>
        <c:lblAlgn val="ctr"/>
        <c:lblOffset val="100"/>
        <c:noMultiLvlLbl val="0"/>
      </c:catAx>
      <c:valAx>
        <c:axId val="450206448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450197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7824A6-573F-4750-B50F-EBA09A7C936D}" type="datetimeFigureOut">
              <a:rPr lang="en-US" smtClean="0"/>
              <a:t>7/8/2016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B8DE9-7FFE-4BAF-9DB6-301AC811B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856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823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157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302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8681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796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8492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8724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830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5152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6091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956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231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3520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3237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5181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2837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3982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7648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5425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2676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39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2574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2741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5290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350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491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377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7976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5094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9734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80048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8301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6799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42846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40771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15386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64597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98254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10727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6059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B8DE9-7FFE-4BAF-9DB6-301AC811BEAA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285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67CD4-9DC1-4123-8C6A-540B58F74ECE}" type="datetime4">
              <a:rPr lang="en-US" smtClean="0"/>
              <a:t>July 8, 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Human Activity Recognition using HIMK by representing videos as sets of feature vectors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C6125-2373-41E2-A762-82451874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038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ADB7-D457-4E1E-9E13-1C2439AB84C1}" type="datetime4">
              <a:rPr lang="en-US" smtClean="0"/>
              <a:t>July 8, 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Human Activity Recognition using HIMK by representing videos as sets of feature vectors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C6125-2373-41E2-A762-82451874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111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94FD6-DF24-4232-B471-7157CB77E44D}" type="datetime4">
              <a:rPr lang="en-US" smtClean="0"/>
              <a:t>July 8, 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Human Activity Recognition using HIMK by representing videos as sets of feature vectors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C6125-2373-41E2-A762-82451874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927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C5783-3B21-4940-9BF6-CC4E22D99D79}" type="datetime4">
              <a:rPr lang="en-US" smtClean="0"/>
              <a:t>July 8, 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Human Activity Recognition using HIMK by representing videos as sets of feature vectors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C6125-2373-41E2-A762-82451874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909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BD9BC-FB0E-4652-99FE-CB3FEE47BE41}" type="datetime4">
              <a:rPr lang="en-US" smtClean="0"/>
              <a:t>July 8, 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Human Activity Recognition using HIMK by representing videos as sets of feature vectors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C6125-2373-41E2-A762-82451874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660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EAE2-4BA4-4F65-9841-3F7E1FA929FF}" type="datetime4">
              <a:rPr lang="en-US" smtClean="0"/>
              <a:t>July 8, 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Human Activity Recognition using HIMK by representing videos as sets of feature vectors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C6125-2373-41E2-A762-82451874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738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C4857-8B74-4FF2-A2B2-31BEC654260C}" type="datetime4">
              <a:rPr lang="en-US" smtClean="0"/>
              <a:t>July 8, 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Human Activity Recognition using HIMK by representing videos as sets of feature vectors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C6125-2373-41E2-A762-82451874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714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E8B5-3471-463D-BE60-65A8A543A6B6}" type="datetime4">
              <a:rPr lang="en-US" smtClean="0"/>
              <a:t>July 8, 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Human Activity Recognition using HIMK by representing videos as sets of feature vectors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C6125-2373-41E2-A762-82451874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00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946B-6AF7-400C-861A-A5B1493FBB3B}" type="datetime4">
              <a:rPr lang="en-US" smtClean="0"/>
              <a:t>July 8, 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Human Activity Recognition using HIMK by representing videos as sets of feature vectors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C6125-2373-41E2-A762-82451874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48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DF8FD-65AB-45BC-90A1-B1C2290B714A}" type="datetime4">
              <a:rPr lang="en-US" smtClean="0"/>
              <a:t>July 8, 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Human Activity Recognition using HIMK by representing videos as sets of feature vectors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C6125-2373-41E2-A762-82451874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110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BD6AA-79A2-406F-8D70-22D044743B85}" type="datetime4">
              <a:rPr lang="en-US" smtClean="0"/>
              <a:t>July 8, 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Human Activity Recognition using HIMK by representing videos as sets of feature vectors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C6125-2373-41E2-A762-82451874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582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A5DE90-6685-4069-8601-234FBD56116E}" type="datetime4">
              <a:rPr lang="en-US" smtClean="0"/>
              <a:t>July 8, 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Human Activity Recognition using HIMK by representing videos as sets of feature vectors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6C6125-2373-41E2-A762-82451874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96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4" Type="http://schemas.openxmlformats.org/officeDocument/2006/relationships/image" Target="../media/image14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.xml"/><Relationship Id="rId3" Type="http://schemas.openxmlformats.org/officeDocument/2006/relationships/image" Target="../media/image21.png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085696"/>
            <a:ext cx="9144000" cy="2510491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IN" sz="1600" dirty="0" smtClean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Presented By</a:t>
            </a:r>
          </a:p>
          <a:p>
            <a:r>
              <a:rPr lang="en-IN" sz="2200" b="1" dirty="0" smtClean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Rupali Bhatnagar</a:t>
            </a:r>
          </a:p>
          <a:p>
            <a:r>
              <a:rPr lang="en-IN" sz="1600" dirty="0" smtClean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14CSE2013</a:t>
            </a:r>
          </a:p>
          <a:p>
            <a:endParaRPr lang="en-IN" sz="1600" dirty="0" smtClean="0"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  <a:p>
            <a:r>
              <a:rPr lang="en-IN" sz="1600" dirty="0" smtClean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Under </a:t>
            </a:r>
            <a:r>
              <a:rPr lang="en-IN" sz="1600" dirty="0" smtClean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the guidance of</a:t>
            </a:r>
          </a:p>
          <a:p>
            <a:r>
              <a:rPr lang="en-IN" sz="2200" b="1" dirty="0" err="1" smtClean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Dr.</a:t>
            </a:r>
            <a:r>
              <a:rPr lang="en-IN" sz="2200" b="1" dirty="0" smtClean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</a:t>
            </a:r>
            <a:r>
              <a:rPr lang="en-IN" sz="2200" b="1" dirty="0" err="1" smtClean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Veena</a:t>
            </a:r>
            <a:r>
              <a:rPr lang="en-IN" sz="2200" b="1" dirty="0" smtClean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T.</a:t>
            </a:r>
          </a:p>
          <a:p>
            <a:r>
              <a:rPr lang="en-IN" sz="1600" dirty="0" smtClean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Assistant Professor</a:t>
            </a:r>
            <a:endParaRPr lang="en-IN" sz="1600" dirty="0" smtClean="0"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0659" y="0"/>
            <a:ext cx="11519647" cy="1963646"/>
          </a:xfrm>
          <a:prstGeom prst="roundRect">
            <a:avLst/>
          </a:prstGeo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50000">
                <a:srgbClr val="3333CC">
                  <a:shade val="67500"/>
                  <a:satMod val="115000"/>
                </a:srgbClr>
              </a:gs>
              <a:gs pos="100000">
                <a:srgbClr val="3333C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3333CC"/>
            </a:solidFill>
          </a:ln>
          <a:effectLst>
            <a:glow>
              <a:schemeClr val="accent1">
                <a:alpha val="56000"/>
              </a:schemeClr>
            </a:glow>
            <a:outerShdw blurRad="190500" dist="165100" dir="5400000" sx="101000" sy="101000" algn="tl" rotWithShape="0">
              <a:prstClr val="black">
                <a:alpha val="57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 smtClean="0">
                <a:latin typeface="Georgia" panose="02040502050405020303" pitchFamily="18" charset="0"/>
                <a:ea typeface="Microsoft Himalaya" panose="01010100010101010101" pitchFamily="2" charset="0"/>
                <a:cs typeface="Arial" panose="020B0604020202020204" pitchFamily="34" charset="0"/>
              </a:rPr>
              <a:t>Project Presentation on</a:t>
            </a:r>
          </a:p>
          <a:p>
            <a:pPr algn="ctr"/>
            <a:r>
              <a:rPr lang="en-IN" sz="3200" dirty="0" smtClean="0">
                <a:latin typeface="Georgia" panose="0204050205040502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Human Activity Recognition using HMM based Intermediate Matching Kernel by representing videos as sets of feature vectors</a:t>
            </a:r>
            <a:endParaRPr lang="en-US" sz="3200" dirty="0">
              <a:latin typeface="Georgia" panose="02040502050405020303" pitchFamily="18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41695" y="5535287"/>
            <a:ext cx="5034116" cy="14974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Department of Computer Science And Engineering</a:t>
            </a:r>
          </a:p>
          <a:p>
            <a:pPr algn="ctr"/>
            <a:r>
              <a:rPr lang="en-IN" dirty="0" smtClean="0">
                <a:solidFill>
                  <a:schemeClr val="tx1"/>
                </a:solidFill>
              </a:rPr>
              <a:t>National Institute of Technology </a:t>
            </a:r>
            <a:r>
              <a:rPr lang="en-IN" dirty="0" smtClean="0">
                <a:solidFill>
                  <a:schemeClr val="tx1"/>
                </a:solidFill>
              </a:rPr>
              <a:t>Goa</a:t>
            </a:r>
          </a:p>
          <a:p>
            <a:pPr algn="ctr"/>
            <a:r>
              <a:rPr lang="en-IN" dirty="0" smtClean="0">
                <a:solidFill>
                  <a:schemeClr val="tx1"/>
                </a:solidFill>
              </a:rPr>
              <a:t>8 July 2016</a:t>
            </a:r>
            <a:endParaRPr lang="en-IN" dirty="0" smtClean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707472"/>
            <a:ext cx="12192000" cy="150528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182" y="4718237"/>
            <a:ext cx="1165636" cy="1142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619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  </a:t>
            </a:r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Outline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694" y="1272989"/>
            <a:ext cx="11860305" cy="5020236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N" sz="2400" dirty="0" smtClean="0"/>
              <a:t>Human Activity Recognition</a:t>
            </a:r>
          </a:p>
          <a:p>
            <a:pPr lvl="2" algn="just"/>
            <a:r>
              <a:rPr lang="en-IN" sz="2200" dirty="0" smtClean="0"/>
              <a:t>Types </a:t>
            </a:r>
            <a:r>
              <a:rPr lang="en-IN" sz="2200" dirty="0" smtClean="0"/>
              <a:t>of patterns in a video</a:t>
            </a:r>
          </a:p>
          <a:p>
            <a:pPr lvl="2" algn="just"/>
            <a:r>
              <a:rPr lang="en-IN" sz="2200" dirty="0" smtClean="0"/>
              <a:t>Challeng</a:t>
            </a:r>
            <a:r>
              <a:rPr lang="en-IN" sz="2200" dirty="0"/>
              <a:t>e</a:t>
            </a:r>
            <a:r>
              <a:rPr lang="en-IN" sz="2200" dirty="0" smtClean="0"/>
              <a:t>s </a:t>
            </a:r>
            <a:r>
              <a:rPr lang="en-IN" sz="2200" dirty="0"/>
              <a:t>to </a:t>
            </a:r>
            <a:r>
              <a:rPr lang="en-IN" sz="2200" dirty="0" smtClean="0"/>
              <a:t>the task of classification of videos</a:t>
            </a:r>
            <a:endParaRPr lang="en-IN" sz="2200" dirty="0" smtClean="0"/>
          </a:p>
          <a:p>
            <a:pPr algn="just"/>
            <a:r>
              <a:rPr lang="en-IN" sz="2400" dirty="0" smtClean="0"/>
              <a:t>Problem Statement</a:t>
            </a:r>
          </a:p>
          <a:p>
            <a:pPr algn="just"/>
            <a:r>
              <a:rPr lang="en-IN" sz="2400" dirty="0" smtClean="0"/>
              <a:t>Related Work</a:t>
            </a:r>
          </a:p>
          <a:p>
            <a:pPr lvl="2" algn="just"/>
            <a:r>
              <a:rPr lang="en-IN" sz="2200" dirty="0" smtClean="0"/>
              <a:t>SVM based methods</a:t>
            </a:r>
          </a:p>
          <a:p>
            <a:pPr lvl="2" algn="just"/>
            <a:r>
              <a:rPr lang="en-IN" sz="2200" dirty="0" smtClean="0"/>
              <a:t>GMM based methods</a:t>
            </a:r>
          </a:p>
          <a:p>
            <a:pPr lvl="2" algn="just"/>
            <a:r>
              <a:rPr lang="en-IN" sz="2200" dirty="0" smtClean="0"/>
              <a:t>HMM based methods</a:t>
            </a:r>
            <a:endParaRPr lang="en-IN" sz="2200" dirty="0" smtClean="0"/>
          </a:p>
          <a:p>
            <a:pPr algn="just"/>
            <a:r>
              <a:rPr lang="en-IN" sz="2400" dirty="0" smtClean="0"/>
              <a:t>Proposed Solution</a:t>
            </a:r>
            <a:endParaRPr lang="en-IN" sz="2400" dirty="0" smtClean="0"/>
          </a:p>
          <a:p>
            <a:pPr lvl="2" algn="just"/>
            <a:r>
              <a:rPr lang="en-IN" sz="2200" dirty="0" smtClean="0"/>
              <a:t>Feature </a:t>
            </a:r>
            <a:r>
              <a:rPr lang="en-IN" sz="2200" dirty="0" smtClean="0"/>
              <a:t>Extraction Module</a:t>
            </a:r>
            <a:endParaRPr lang="en-IN" sz="2200" dirty="0" smtClean="0"/>
          </a:p>
          <a:p>
            <a:pPr lvl="2" algn="just"/>
            <a:r>
              <a:rPr lang="en-IN" sz="2200" dirty="0" smtClean="0"/>
              <a:t>Classification </a:t>
            </a:r>
            <a:r>
              <a:rPr lang="en-IN" sz="2200" dirty="0" smtClean="0"/>
              <a:t>using HIMK based SVM</a:t>
            </a:r>
            <a:endParaRPr lang="en-IN" sz="2400" dirty="0" smtClean="0"/>
          </a:p>
          <a:p>
            <a:pPr algn="just"/>
            <a:r>
              <a:rPr lang="en-IN" sz="2400" dirty="0" smtClean="0"/>
              <a:t>Results</a:t>
            </a:r>
          </a:p>
          <a:p>
            <a:pPr algn="just"/>
            <a:r>
              <a:rPr lang="en-IN" sz="2400" dirty="0" smtClean="0"/>
              <a:t>Conclusions and Future Directions</a:t>
            </a:r>
            <a:endParaRPr lang="en-IN" sz="2400" dirty="0" smtClean="0"/>
          </a:p>
          <a:p>
            <a:pPr algn="just"/>
            <a:r>
              <a:rPr lang="en-IN" sz="2400" dirty="0" smtClean="0"/>
              <a:t>References</a:t>
            </a:r>
            <a:endParaRPr lang="en-IN" sz="2400" dirty="0" smtClean="0"/>
          </a:p>
          <a:p>
            <a:pPr marL="514350" indent="-514350" algn="just">
              <a:buFont typeface="+mj-lt"/>
              <a:buAutoNum type="arabicPeriod"/>
            </a:pPr>
            <a:endParaRPr lang="en-IN" sz="2400" dirty="0" smtClean="0"/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4DDFA8E7-0903-498F-BCAB-D6AB29ACFAA3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29216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2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262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 </a:t>
            </a:r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 </a:t>
            </a:r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Human Activity Recognition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6C10FE3B-C873-40E6-9372-E0F42B1E180D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3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54106" y="1283659"/>
            <a:ext cx="1148378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 smtClean="0"/>
              <a:t>Automatic detection of human activity events from videos by :-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400" dirty="0" smtClean="0"/>
              <a:t>Detecting when the activity takes place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400" dirty="0" smtClean="0"/>
              <a:t>Determining what activity has taken place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 smtClean="0"/>
              <a:t>APPLICATIONS</a:t>
            </a:r>
            <a:r>
              <a:rPr lang="en-IN" sz="2400" dirty="0" smtClean="0"/>
              <a:t>:-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400" dirty="0" smtClean="0"/>
              <a:t>  Surveillance Systems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IN" sz="2400" dirty="0" smtClean="0"/>
              <a:t>Patient Monitoring Systems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IN" sz="2400" dirty="0" smtClean="0"/>
              <a:t>Crowd Behaviour Prediction Systems 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IN" sz="2400" dirty="0" smtClean="0"/>
              <a:t>Sports play analysis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IN" sz="2400" dirty="0" smtClean="0"/>
              <a:t>Content based video search</a:t>
            </a:r>
            <a:endParaRPr lang="en-IN" sz="24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400" dirty="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400" dirty="0" smtClean="0"/>
          </a:p>
        </p:txBody>
      </p:sp>
      <p:sp>
        <p:nvSpPr>
          <p:cNvPr id="55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329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/>
          <a:lstStyle/>
          <a:p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Classification of videos 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6C10FE3B-C873-40E6-9372-E0F42B1E180D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4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71717" y="1272990"/>
            <a:ext cx="12129247" cy="5065058"/>
          </a:xfrm>
        </p:spPr>
        <p:txBody>
          <a:bodyPr>
            <a:normAutofit/>
          </a:bodyPr>
          <a:lstStyle/>
          <a:p>
            <a:pPr algn="just"/>
            <a:r>
              <a:rPr lang="en-IN" sz="2400" dirty="0" smtClean="0"/>
              <a:t>Video is composed of a sequence of frames.</a:t>
            </a:r>
          </a:p>
          <a:p>
            <a:pPr algn="just"/>
            <a:r>
              <a:rPr lang="en-IN" sz="2400" dirty="0" smtClean="0"/>
              <a:t>The number of frames depends on the duration of the video.</a:t>
            </a:r>
          </a:p>
          <a:p>
            <a:pPr algn="just"/>
            <a:endParaRPr lang="en-IN" sz="2400" dirty="0" smtClean="0"/>
          </a:p>
          <a:p>
            <a:pPr algn="just"/>
            <a:endParaRPr lang="en-IN" sz="2400" dirty="0"/>
          </a:p>
          <a:p>
            <a:pPr algn="just"/>
            <a:endParaRPr lang="en-IN" sz="2400" dirty="0" smtClean="0"/>
          </a:p>
          <a:p>
            <a:pPr algn="just"/>
            <a:endParaRPr lang="en-IN" sz="2400" dirty="0"/>
          </a:p>
          <a:p>
            <a:pPr algn="just"/>
            <a:endParaRPr lang="en-IN" sz="2400" dirty="0" smtClean="0"/>
          </a:p>
          <a:p>
            <a:pPr algn="just"/>
            <a:endParaRPr lang="en-IN" sz="2400" dirty="0"/>
          </a:p>
          <a:p>
            <a:pPr algn="just"/>
            <a:endParaRPr lang="en-IN" sz="2400" dirty="0" smtClean="0"/>
          </a:p>
          <a:p>
            <a:pPr marL="228600" lvl="1" algn="just">
              <a:spcBef>
                <a:spcPts val="1000"/>
              </a:spcBef>
            </a:pPr>
            <a:r>
              <a:rPr lang="en-US" dirty="0" smtClean="0"/>
              <a:t>The </a:t>
            </a:r>
            <a:r>
              <a:rPr lang="en-US" dirty="0"/>
              <a:t>images are temporally related to one another</a:t>
            </a:r>
            <a:r>
              <a:rPr lang="en-US" dirty="0" smtClean="0"/>
              <a:t>.</a:t>
            </a:r>
          </a:p>
          <a:p>
            <a:pPr marL="228600" lvl="1" algn="just">
              <a:spcBef>
                <a:spcPts val="1000"/>
              </a:spcBef>
            </a:pPr>
            <a:r>
              <a:rPr lang="en-US" dirty="0"/>
              <a:t>The images themselves have a local spatial </a:t>
            </a:r>
            <a:r>
              <a:rPr lang="en-US" dirty="0" smtClean="0"/>
              <a:t>correlations.</a:t>
            </a:r>
            <a:endParaRPr lang="en-US" dirty="0"/>
          </a:p>
          <a:p>
            <a:pPr algn="just"/>
            <a:endParaRPr lang="en-IN" sz="2400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096" y="2757548"/>
            <a:ext cx="1524000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068" y="2682684"/>
            <a:ext cx="1524000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9257" y="2717208"/>
            <a:ext cx="1524000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9138" y="2690309"/>
            <a:ext cx="1524000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3328" y="2705286"/>
            <a:ext cx="1571064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208" y="2717208"/>
            <a:ext cx="1524000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1285" y="2757548"/>
            <a:ext cx="1571064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69" y="2833939"/>
            <a:ext cx="1524000" cy="1143000"/>
          </a:xfrm>
          <a:prstGeom prst="rect">
            <a:avLst/>
          </a:prstGeom>
        </p:spPr>
      </p:pic>
      <p:sp>
        <p:nvSpPr>
          <p:cNvPr id="7" name="Isosceles Triangle 6"/>
          <p:cNvSpPr/>
          <p:nvPr/>
        </p:nvSpPr>
        <p:spPr>
          <a:xfrm rot="5400000">
            <a:off x="1433234" y="3256834"/>
            <a:ext cx="394447" cy="212904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2600329" y="3237785"/>
            <a:ext cx="2456330" cy="322725"/>
          </a:xfrm>
          <a:prstGeom prst="rightArrow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4546219" y="3976939"/>
            <a:ext cx="6190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 smtClean="0"/>
              <a:t>Time t=             0       1       2        3           4                                 t                                    T-2      T-1          T</a:t>
            </a:r>
            <a:endParaRPr lang="en-US" sz="1200" b="1" dirty="0"/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9888" y="2697038"/>
            <a:ext cx="1524001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2704" y="2688975"/>
            <a:ext cx="1571064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9921" y="2717208"/>
            <a:ext cx="1524000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736" y="2720073"/>
            <a:ext cx="1571064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sp>
        <p:nvSpPr>
          <p:cNvPr id="46" name="Oval 45"/>
          <p:cNvSpPr/>
          <p:nvPr/>
        </p:nvSpPr>
        <p:spPr>
          <a:xfrm>
            <a:off x="8942298" y="3238058"/>
            <a:ext cx="94126" cy="89646"/>
          </a:xfrm>
          <a:prstGeom prst="ellipse">
            <a:avLst/>
          </a:prstGeom>
          <a:solidFill>
            <a:srgbClr val="3333CC"/>
          </a:solidFill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8501893" y="3246750"/>
            <a:ext cx="94126" cy="89646"/>
          </a:xfrm>
          <a:prstGeom prst="ellipse">
            <a:avLst/>
          </a:prstGeom>
          <a:solidFill>
            <a:srgbClr val="3333CC"/>
          </a:solidFill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9124949" y="3223715"/>
            <a:ext cx="94126" cy="89646"/>
          </a:xfrm>
          <a:prstGeom prst="ellipse">
            <a:avLst/>
          </a:prstGeom>
          <a:solidFill>
            <a:srgbClr val="3333CC"/>
          </a:solidFill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8690158" y="3239402"/>
            <a:ext cx="94126" cy="89646"/>
          </a:xfrm>
          <a:prstGeom prst="ellipse">
            <a:avLst/>
          </a:prstGeom>
          <a:solidFill>
            <a:srgbClr val="3333CC"/>
          </a:solidFill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7588622" y="3264948"/>
            <a:ext cx="94126" cy="89646"/>
          </a:xfrm>
          <a:prstGeom prst="ellipse">
            <a:avLst/>
          </a:prstGeom>
          <a:solidFill>
            <a:srgbClr val="3333CC"/>
          </a:solidFill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7148217" y="3273640"/>
            <a:ext cx="94126" cy="89646"/>
          </a:xfrm>
          <a:prstGeom prst="ellipse">
            <a:avLst/>
          </a:prstGeom>
          <a:solidFill>
            <a:srgbClr val="3333CC"/>
          </a:solidFill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7336482" y="3266292"/>
            <a:ext cx="94126" cy="89646"/>
          </a:xfrm>
          <a:prstGeom prst="ellipse">
            <a:avLst/>
          </a:prstGeom>
          <a:solidFill>
            <a:srgbClr val="3333CC"/>
          </a:solidFill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736910" y="4551741"/>
            <a:ext cx="8444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Figure : A video is composed of a sequence of frames</a:t>
            </a:r>
            <a:endParaRPr lang="en-US" dirty="0"/>
          </a:p>
        </p:txBody>
      </p:sp>
      <p:sp>
        <p:nvSpPr>
          <p:cNvPr id="52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886629" y="6508130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049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 </a:t>
            </a:r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 </a:t>
            </a:r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Classification 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of videos : </a:t>
            </a:r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Types of patterns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52" y="1272988"/>
            <a:ext cx="12129247" cy="4921905"/>
          </a:xfrm>
        </p:spPr>
        <p:txBody>
          <a:bodyPr/>
          <a:lstStyle/>
          <a:p>
            <a:pPr algn="just"/>
            <a:r>
              <a:rPr lang="en-IN" dirty="0" smtClean="0"/>
              <a:t>A video has 2 categories of patterns:-</a:t>
            </a:r>
          </a:p>
          <a:p>
            <a:pPr lvl="1" algn="just"/>
            <a:r>
              <a:rPr lang="en-IN" dirty="0" smtClean="0"/>
              <a:t>SPATIAL PATTERNS</a:t>
            </a:r>
          </a:p>
          <a:p>
            <a:pPr lvl="1" algn="just"/>
            <a:r>
              <a:rPr lang="en-IN" dirty="0" smtClean="0"/>
              <a:t>TEMPORAL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487277EA-75F8-4BC9-B8CB-FEF1608FC93B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5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0946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Classification of videos : Types of patterns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52" y="1290918"/>
            <a:ext cx="12129247" cy="5137058"/>
          </a:xfrm>
        </p:spPr>
        <p:txBody>
          <a:bodyPr/>
          <a:lstStyle/>
          <a:p>
            <a:pPr algn="just"/>
            <a:r>
              <a:rPr lang="en-IN" dirty="0" smtClean="0"/>
              <a:t>A video has 2 categories of patterns:-</a:t>
            </a:r>
          </a:p>
          <a:p>
            <a:pPr lvl="1" algn="just"/>
            <a:r>
              <a:rPr lang="en-IN" dirty="0" smtClean="0"/>
              <a:t>SPATIAL PATTERNS</a:t>
            </a:r>
          </a:p>
          <a:p>
            <a:pPr lvl="2" algn="just"/>
            <a:r>
              <a:rPr lang="en-IN" dirty="0" smtClean="0"/>
              <a:t>Local features of frames of videos.</a:t>
            </a:r>
          </a:p>
          <a:p>
            <a:pPr lvl="2" algn="just"/>
            <a:r>
              <a:rPr lang="en-IN" dirty="0" smtClean="0"/>
              <a:t>Appearance based features – Corners, Edges, </a:t>
            </a:r>
            <a:r>
              <a:rPr lang="en-IN" dirty="0" err="1" smtClean="0"/>
              <a:t>Colors</a:t>
            </a:r>
            <a:r>
              <a:rPr lang="en-IN" dirty="0" smtClean="0"/>
              <a:t>, </a:t>
            </a:r>
            <a:r>
              <a:rPr lang="en-IN" dirty="0" err="1" smtClean="0"/>
              <a:t>etc</a:t>
            </a:r>
            <a:endParaRPr lang="en-IN" dirty="0" smtClean="0"/>
          </a:p>
          <a:p>
            <a:pPr lvl="2" algn="just"/>
            <a:r>
              <a:rPr lang="en-IN" dirty="0" smtClean="0"/>
              <a:t>Helps in detecting:-</a:t>
            </a:r>
          </a:p>
          <a:p>
            <a:pPr lvl="3" algn="just"/>
            <a:r>
              <a:rPr lang="en-IN" sz="2000" dirty="0" smtClean="0"/>
              <a:t>Edges</a:t>
            </a:r>
          </a:p>
          <a:p>
            <a:pPr lvl="3" algn="just"/>
            <a:r>
              <a:rPr lang="en-IN" sz="2000" dirty="0" smtClean="0"/>
              <a:t>Backgrounds</a:t>
            </a:r>
          </a:p>
          <a:p>
            <a:pPr lvl="3" algn="just"/>
            <a:r>
              <a:rPr lang="en-IN" sz="2000" dirty="0" smtClean="0"/>
              <a:t>Textures</a:t>
            </a:r>
          </a:p>
          <a:p>
            <a:pPr lvl="3" algn="just"/>
            <a:r>
              <a:rPr lang="en-IN" sz="2000" dirty="0"/>
              <a:t>Objects</a:t>
            </a:r>
          </a:p>
          <a:p>
            <a:pPr lvl="3" algn="just"/>
            <a:endParaRPr lang="en-IN" dirty="0" smtClean="0"/>
          </a:p>
          <a:p>
            <a:pPr lvl="2" algn="just"/>
            <a:endParaRPr lang="en-IN" dirty="0" smtClean="0"/>
          </a:p>
          <a:p>
            <a:pPr lvl="1" algn="just"/>
            <a:r>
              <a:rPr lang="en-IN" dirty="0" smtClean="0"/>
              <a:t>TEMPORAL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1BBE1327-E31F-478C-97F6-1A01159BB16D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6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70965" y="1766253"/>
            <a:ext cx="2411506" cy="376100"/>
          </a:xfrm>
          <a:prstGeom prst="rect">
            <a:avLst/>
          </a:prstGeom>
          <a:noFill/>
          <a:ln w="38100"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8282" y="1820903"/>
            <a:ext cx="4312024" cy="357048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145204"/>
              </p:ext>
            </p:extLst>
          </p:nvPr>
        </p:nvGraphicFramePr>
        <p:xfrm>
          <a:off x="7548282" y="1850276"/>
          <a:ext cx="4312024" cy="35396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78006"/>
                <a:gridCol w="1078006"/>
                <a:gridCol w="1078006"/>
                <a:gridCol w="1078006"/>
              </a:tblGrid>
              <a:tr h="88491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8491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8491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8491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48282" y="5477435"/>
            <a:ext cx="4312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Figure : Spatial patterns in an image</a:t>
            </a:r>
            <a:endParaRPr lang="en-US" dirty="0"/>
          </a:p>
        </p:txBody>
      </p:sp>
      <p:sp>
        <p:nvSpPr>
          <p:cNvPr id="15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330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Classification of videos : Types of patterns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86867"/>
            <a:ext cx="12129247" cy="5206008"/>
          </a:xfrm>
        </p:spPr>
        <p:txBody>
          <a:bodyPr>
            <a:normAutofit/>
          </a:bodyPr>
          <a:lstStyle/>
          <a:p>
            <a:pPr algn="just"/>
            <a:r>
              <a:rPr lang="en-IN" dirty="0" smtClean="0"/>
              <a:t>A video has 2 categories of patterns:-</a:t>
            </a:r>
          </a:p>
          <a:p>
            <a:pPr lvl="1" algn="just"/>
            <a:r>
              <a:rPr lang="en-IN" dirty="0" smtClean="0"/>
              <a:t>SPATIAL PATTERNS</a:t>
            </a:r>
          </a:p>
          <a:p>
            <a:pPr lvl="1" algn="just"/>
            <a:r>
              <a:rPr lang="en-IN" dirty="0" smtClean="0"/>
              <a:t>TEMPORAL PATTERNS</a:t>
            </a:r>
          </a:p>
          <a:p>
            <a:pPr lvl="2" algn="just"/>
            <a:r>
              <a:rPr lang="en-IN" sz="2200" dirty="0" smtClean="0"/>
              <a:t>Capture the </a:t>
            </a:r>
            <a:r>
              <a:rPr lang="en-IN" sz="2200" u="sng" dirty="0" smtClean="0"/>
              <a:t>sequence</a:t>
            </a:r>
            <a:r>
              <a:rPr lang="en-IN" sz="2200" dirty="0" smtClean="0"/>
              <a:t> of frames.</a:t>
            </a:r>
          </a:p>
          <a:p>
            <a:pPr lvl="2" algn="just"/>
            <a:r>
              <a:rPr lang="en-IN" sz="2200" dirty="0" smtClean="0"/>
              <a:t>Motion information embedded in the video can be taken out.</a:t>
            </a:r>
          </a:p>
          <a:p>
            <a:pPr lvl="2" algn="just"/>
            <a:endParaRPr lang="en-IN" dirty="0" smtClean="0"/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29A889F2-F8D1-42AD-8D24-97536D09E5B1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lang="en-US" sz="140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7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17174" y="2124635"/>
            <a:ext cx="2877671" cy="385479"/>
          </a:xfrm>
          <a:prstGeom prst="rect">
            <a:avLst/>
          </a:prstGeom>
          <a:noFill/>
          <a:ln w="38100"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248" y="3827936"/>
            <a:ext cx="1524001" cy="1143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248" y="3977936"/>
            <a:ext cx="1524000" cy="1143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48" y="4127936"/>
            <a:ext cx="1524000" cy="1143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248" y="4277936"/>
            <a:ext cx="1524000" cy="114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248" y="4427936"/>
            <a:ext cx="1524000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248" y="4577936"/>
            <a:ext cx="1524000" cy="1143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248" y="4727936"/>
            <a:ext cx="1524000" cy="11430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248" y="4877936"/>
            <a:ext cx="1524000" cy="11430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2156" y="4324372"/>
            <a:ext cx="1524000" cy="11430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0000" y="4328544"/>
            <a:ext cx="1524000" cy="11430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810" y="4324372"/>
            <a:ext cx="1524000" cy="11430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5965" y="4324372"/>
            <a:ext cx="1524000" cy="1143000"/>
          </a:xfrm>
          <a:prstGeom prst="rect">
            <a:avLst/>
          </a:prstGeom>
        </p:spPr>
      </p:pic>
      <p:sp>
        <p:nvSpPr>
          <p:cNvPr id="24" name="Right Arrow 23"/>
          <p:cNvSpPr/>
          <p:nvPr/>
        </p:nvSpPr>
        <p:spPr>
          <a:xfrm>
            <a:off x="2985248" y="4685982"/>
            <a:ext cx="1059917" cy="191954"/>
          </a:xfrm>
          <a:prstGeom prst="rightArrow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>
            <a:stCxn id="17" idx="3"/>
            <a:endCxn id="18" idx="1"/>
          </p:cNvCxnSpPr>
          <p:nvPr/>
        </p:nvCxnSpPr>
        <p:spPr>
          <a:xfrm>
            <a:off x="5646156" y="4895872"/>
            <a:ext cx="533844" cy="4172"/>
          </a:xfrm>
          <a:prstGeom prst="straightConnector1">
            <a:avLst/>
          </a:prstGeom>
          <a:ln>
            <a:solidFill>
              <a:srgbClr val="33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8" idx="3"/>
            <a:endCxn id="19" idx="1"/>
          </p:cNvCxnSpPr>
          <p:nvPr/>
        </p:nvCxnSpPr>
        <p:spPr>
          <a:xfrm flipV="1">
            <a:off x="7704000" y="4895872"/>
            <a:ext cx="569810" cy="4172"/>
          </a:xfrm>
          <a:prstGeom prst="straightConnector1">
            <a:avLst/>
          </a:prstGeom>
          <a:ln>
            <a:solidFill>
              <a:srgbClr val="33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9" idx="3"/>
            <a:endCxn id="20" idx="1"/>
          </p:cNvCxnSpPr>
          <p:nvPr/>
        </p:nvCxnSpPr>
        <p:spPr>
          <a:xfrm>
            <a:off x="9797810" y="4895872"/>
            <a:ext cx="498155" cy="0"/>
          </a:xfrm>
          <a:prstGeom prst="straightConnector1">
            <a:avLst/>
          </a:prstGeom>
          <a:ln>
            <a:solidFill>
              <a:srgbClr val="33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534463" y="6020936"/>
            <a:ext cx="7198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Figure : Motion information embedded in a video (Action = handclapping)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943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/>
          <a:lstStyle/>
          <a:p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Classification of videos : </a:t>
            </a:r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Challenges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52" y="1290918"/>
            <a:ext cx="12129247" cy="4903975"/>
          </a:xfrm>
        </p:spPr>
        <p:txBody>
          <a:bodyPr/>
          <a:lstStyle/>
          <a:p>
            <a:pPr algn="just"/>
            <a:r>
              <a:rPr lang="en-IN" dirty="0" smtClean="0"/>
              <a:t>Varying length representations</a:t>
            </a:r>
            <a:r>
              <a:rPr lang="en-IN" sz="1800" dirty="0" smtClean="0"/>
              <a:t>[1]</a:t>
            </a:r>
            <a:endParaRPr lang="en-IN" dirty="0" smtClean="0"/>
          </a:p>
          <a:p>
            <a:pPr algn="just"/>
            <a:r>
              <a:rPr lang="en-IN" dirty="0" smtClean="0"/>
              <a:t>High dimensionality</a:t>
            </a:r>
          </a:p>
          <a:p>
            <a:pPr algn="just"/>
            <a:r>
              <a:rPr lang="en-IN" dirty="0" smtClean="0"/>
              <a:t>Intra-class variability</a:t>
            </a:r>
          </a:p>
          <a:p>
            <a:pPr algn="just"/>
            <a:r>
              <a:rPr lang="en-IN" dirty="0" smtClean="0"/>
              <a:t>Inter-class </a:t>
            </a:r>
            <a:r>
              <a:rPr lang="en-IN" dirty="0" smtClean="0"/>
              <a:t>similarity</a:t>
            </a:r>
          </a:p>
          <a:p>
            <a:pPr algn="just"/>
            <a:endParaRPr lang="en-IN" dirty="0" smtClean="0"/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C1B71613-56F3-4CE2-AE18-2B6821B41D86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8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14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Classification of videos : Challenges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52" y="1290917"/>
            <a:ext cx="12129247" cy="5201957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dirty="0"/>
              <a:t>Varying length representations</a:t>
            </a:r>
            <a:r>
              <a:rPr lang="en-IN" sz="1800" dirty="0"/>
              <a:t>[1]</a:t>
            </a:r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 smtClean="0"/>
          </a:p>
          <a:p>
            <a:pPr algn="just"/>
            <a:endParaRPr lang="en-IN" dirty="0"/>
          </a:p>
          <a:p>
            <a:pPr lvl="8" algn="just"/>
            <a:endParaRPr lang="en-IN" dirty="0" smtClean="0"/>
          </a:p>
          <a:p>
            <a:pPr algn="just"/>
            <a:endParaRPr lang="en-IN" dirty="0" smtClean="0"/>
          </a:p>
          <a:p>
            <a:pPr algn="just"/>
            <a:endParaRPr lang="en-IN" dirty="0"/>
          </a:p>
          <a:p>
            <a:pPr algn="just"/>
            <a:endParaRPr lang="en-IN" dirty="0" smtClean="0"/>
          </a:p>
          <a:p>
            <a:pPr algn="just"/>
            <a:r>
              <a:rPr lang="en-IN" dirty="0" smtClean="0"/>
              <a:t>High dimensionality</a:t>
            </a:r>
          </a:p>
          <a:p>
            <a:pPr algn="just"/>
            <a:r>
              <a:rPr lang="en-IN" dirty="0" smtClean="0"/>
              <a:t>Intra-class variability</a:t>
            </a:r>
          </a:p>
          <a:p>
            <a:pPr algn="just"/>
            <a:r>
              <a:rPr lang="en-IN" dirty="0" smtClean="0"/>
              <a:t>Inter-class similarity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4C9218F9-7E10-4312-8935-6BAD023106E8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9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1222" y="1271976"/>
            <a:ext cx="4803364" cy="439270"/>
          </a:xfrm>
          <a:prstGeom prst="rect">
            <a:avLst/>
          </a:prstGeom>
          <a:noFill/>
          <a:ln w="38100"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8855" y="1825214"/>
            <a:ext cx="1524000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58" name="Picture 5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827" y="1750350"/>
            <a:ext cx="1524000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59" name="Picture 5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1016" y="1784874"/>
            <a:ext cx="1524000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60" name="Picture 5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897" y="1757975"/>
            <a:ext cx="1524000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5087" y="1772952"/>
            <a:ext cx="1571064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967" y="1784874"/>
            <a:ext cx="1524000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3044" y="1825214"/>
            <a:ext cx="1571064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428" y="1901605"/>
            <a:ext cx="1524000" cy="1143000"/>
          </a:xfrm>
          <a:prstGeom prst="rect">
            <a:avLst/>
          </a:prstGeom>
        </p:spPr>
      </p:pic>
      <p:sp>
        <p:nvSpPr>
          <p:cNvPr id="65" name="Isosceles Triangle 64"/>
          <p:cNvSpPr/>
          <p:nvPr/>
        </p:nvSpPr>
        <p:spPr>
          <a:xfrm rot="5400000">
            <a:off x="984993" y="2324500"/>
            <a:ext cx="394447" cy="212904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ight Arrow 65"/>
          <p:cNvSpPr/>
          <p:nvPr/>
        </p:nvSpPr>
        <p:spPr>
          <a:xfrm>
            <a:off x="2152088" y="2305451"/>
            <a:ext cx="2456330" cy="322725"/>
          </a:xfrm>
          <a:prstGeom prst="rightArrow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4097978" y="2999787"/>
            <a:ext cx="6190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 smtClean="0"/>
              <a:t>Time t=             0       1       2        3           4                                 t</a:t>
            </a:r>
            <a:r>
              <a:rPr lang="en-IN" sz="900" b="1" dirty="0" smtClean="0"/>
              <a:t>1</a:t>
            </a:r>
            <a:r>
              <a:rPr lang="en-IN" sz="1200" b="1" dirty="0" smtClean="0"/>
              <a:t>                                   </a:t>
            </a:r>
            <a:r>
              <a:rPr lang="en-IN" sz="1200" b="1" dirty="0" smtClean="0">
                <a:solidFill>
                  <a:prstClr val="black"/>
                </a:solidFill>
              </a:rPr>
              <a:t>T</a:t>
            </a:r>
            <a:r>
              <a:rPr lang="en-IN" sz="900" b="1" dirty="0" smtClean="0">
                <a:solidFill>
                  <a:prstClr val="black"/>
                </a:solidFill>
              </a:rPr>
              <a:t>1 </a:t>
            </a:r>
            <a:r>
              <a:rPr lang="en-IN" sz="1200" b="1" dirty="0" smtClean="0"/>
              <a:t>-2      </a:t>
            </a:r>
            <a:r>
              <a:rPr lang="en-IN" sz="1200" b="1" dirty="0">
                <a:solidFill>
                  <a:prstClr val="black"/>
                </a:solidFill>
              </a:rPr>
              <a:t>T</a:t>
            </a:r>
            <a:r>
              <a:rPr lang="en-IN" sz="900" b="1" dirty="0">
                <a:solidFill>
                  <a:prstClr val="black"/>
                </a:solidFill>
              </a:rPr>
              <a:t>1 </a:t>
            </a:r>
            <a:r>
              <a:rPr lang="en-IN" sz="1200" b="1" dirty="0" smtClean="0"/>
              <a:t>-1    T</a:t>
            </a:r>
            <a:r>
              <a:rPr lang="en-IN" sz="900" b="1" dirty="0" smtClean="0"/>
              <a:t>1</a:t>
            </a:r>
            <a:endParaRPr lang="en-US" sz="1200" b="1" dirty="0"/>
          </a:p>
        </p:txBody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1647" y="1764704"/>
            <a:ext cx="1524001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69" name="Picture 6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4463" y="1756641"/>
            <a:ext cx="1571064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70" name="Picture 6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680" y="1784874"/>
            <a:ext cx="1524000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71" name="Picture 7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495" y="1787739"/>
            <a:ext cx="1571064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sp>
        <p:nvSpPr>
          <p:cNvPr id="72" name="Oval 71"/>
          <p:cNvSpPr/>
          <p:nvPr/>
        </p:nvSpPr>
        <p:spPr>
          <a:xfrm>
            <a:off x="8494057" y="2305724"/>
            <a:ext cx="94126" cy="89646"/>
          </a:xfrm>
          <a:prstGeom prst="ellipse">
            <a:avLst/>
          </a:prstGeom>
          <a:solidFill>
            <a:srgbClr val="3333CC"/>
          </a:solidFill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/>
          <p:cNvSpPr/>
          <p:nvPr/>
        </p:nvSpPr>
        <p:spPr>
          <a:xfrm>
            <a:off x="8053652" y="2314416"/>
            <a:ext cx="94126" cy="89646"/>
          </a:xfrm>
          <a:prstGeom prst="ellipse">
            <a:avLst/>
          </a:prstGeom>
          <a:solidFill>
            <a:srgbClr val="3333CC"/>
          </a:solidFill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8676708" y="2291381"/>
            <a:ext cx="94126" cy="89646"/>
          </a:xfrm>
          <a:prstGeom prst="ellipse">
            <a:avLst/>
          </a:prstGeom>
          <a:solidFill>
            <a:srgbClr val="3333CC"/>
          </a:solidFill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8241917" y="2307068"/>
            <a:ext cx="94126" cy="89646"/>
          </a:xfrm>
          <a:prstGeom prst="ellipse">
            <a:avLst/>
          </a:prstGeom>
          <a:solidFill>
            <a:srgbClr val="3333CC"/>
          </a:solidFill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/>
          <p:cNvSpPr/>
          <p:nvPr/>
        </p:nvSpPr>
        <p:spPr>
          <a:xfrm>
            <a:off x="7140381" y="2332614"/>
            <a:ext cx="94126" cy="89646"/>
          </a:xfrm>
          <a:prstGeom prst="ellipse">
            <a:avLst/>
          </a:prstGeom>
          <a:solidFill>
            <a:srgbClr val="3333CC"/>
          </a:solidFill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6699976" y="2341306"/>
            <a:ext cx="94126" cy="89646"/>
          </a:xfrm>
          <a:prstGeom prst="ellipse">
            <a:avLst/>
          </a:prstGeom>
          <a:solidFill>
            <a:srgbClr val="3333CC"/>
          </a:solidFill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6888241" y="2333958"/>
            <a:ext cx="94126" cy="89646"/>
          </a:xfrm>
          <a:prstGeom prst="ellipse">
            <a:avLst/>
          </a:prstGeom>
          <a:solidFill>
            <a:srgbClr val="3333CC"/>
          </a:solidFill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ight Arrow 87"/>
          <p:cNvSpPr/>
          <p:nvPr/>
        </p:nvSpPr>
        <p:spPr>
          <a:xfrm>
            <a:off x="2214842" y="4008751"/>
            <a:ext cx="2456330" cy="322725"/>
          </a:xfrm>
          <a:prstGeom prst="rightArrow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/>
          <p:cNvSpPr txBox="1"/>
          <p:nvPr/>
        </p:nvSpPr>
        <p:spPr>
          <a:xfrm>
            <a:off x="4160732" y="4721009"/>
            <a:ext cx="7339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 smtClean="0"/>
              <a:t>Time t=             0       1       2        3           4                                               t</a:t>
            </a:r>
            <a:r>
              <a:rPr lang="en-IN" sz="900" b="1" dirty="0" smtClean="0"/>
              <a:t>2</a:t>
            </a:r>
            <a:r>
              <a:rPr lang="en-IN" sz="1200" b="1" dirty="0" smtClean="0"/>
              <a:t>                                             </a:t>
            </a:r>
            <a:r>
              <a:rPr lang="en-IN" sz="1200" b="1" dirty="0" err="1" smtClean="0">
                <a:solidFill>
                  <a:prstClr val="black"/>
                </a:solidFill>
              </a:rPr>
              <a:t>T</a:t>
            </a:r>
            <a:r>
              <a:rPr lang="en-IN" sz="900" b="1" dirty="0" err="1" smtClean="0">
                <a:solidFill>
                  <a:prstClr val="black"/>
                </a:solidFill>
              </a:rPr>
              <a:t>2</a:t>
            </a:r>
            <a:r>
              <a:rPr lang="en-IN" sz="900" b="1" dirty="0" smtClean="0">
                <a:solidFill>
                  <a:prstClr val="black"/>
                </a:solidFill>
              </a:rPr>
              <a:t> </a:t>
            </a:r>
            <a:r>
              <a:rPr lang="en-IN" sz="1200" b="1" dirty="0" smtClean="0"/>
              <a:t>-2     </a:t>
            </a:r>
            <a:r>
              <a:rPr lang="en-IN" sz="1200" b="1" dirty="0" smtClean="0">
                <a:solidFill>
                  <a:prstClr val="black"/>
                </a:solidFill>
              </a:rPr>
              <a:t>T</a:t>
            </a:r>
            <a:r>
              <a:rPr lang="en-IN" sz="900" b="1" dirty="0">
                <a:solidFill>
                  <a:prstClr val="black"/>
                </a:solidFill>
              </a:rPr>
              <a:t>2</a:t>
            </a:r>
            <a:r>
              <a:rPr lang="en-IN" sz="1200" b="1" dirty="0" smtClean="0"/>
              <a:t>-1     </a:t>
            </a:r>
            <a:r>
              <a:rPr lang="en-IN" sz="1200" b="1" dirty="0" smtClean="0">
                <a:solidFill>
                  <a:prstClr val="black"/>
                </a:solidFill>
              </a:rPr>
              <a:t>T</a:t>
            </a:r>
            <a:r>
              <a:rPr lang="en-IN" sz="900" b="1" dirty="0" smtClean="0">
                <a:solidFill>
                  <a:prstClr val="black"/>
                </a:solidFill>
              </a:rPr>
              <a:t>2</a:t>
            </a:r>
            <a:endParaRPr lang="en-US" sz="1200" b="1" dirty="0"/>
          </a:p>
        </p:txBody>
      </p:sp>
      <p:sp>
        <p:nvSpPr>
          <p:cNvPr id="94" name="Oval 93"/>
          <p:cNvSpPr/>
          <p:nvPr/>
        </p:nvSpPr>
        <p:spPr>
          <a:xfrm>
            <a:off x="8556811" y="4009024"/>
            <a:ext cx="94126" cy="89646"/>
          </a:xfrm>
          <a:prstGeom prst="ellipse">
            <a:avLst/>
          </a:prstGeom>
          <a:solidFill>
            <a:srgbClr val="3333CC"/>
          </a:solidFill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882" y="3461275"/>
            <a:ext cx="1524000" cy="1143000"/>
          </a:xfrm>
          <a:prstGeom prst="rect">
            <a:avLst/>
          </a:prstGeom>
        </p:spPr>
      </p:pic>
      <p:sp>
        <p:nvSpPr>
          <p:cNvPr id="97" name="Oval 96"/>
          <p:cNvSpPr/>
          <p:nvPr/>
        </p:nvSpPr>
        <p:spPr>
          <a:xfrm>
            <a:off x="8304671" y="4010368"/>
            <a:ext cx="94126" cy="89646"/>
          </a:xfrm>
          <a:prstGeom prst="ellipse">
            <a:avLst/>
          </a:prstGeom>
          <a:solidFill>
            <a:srgbClr val="3333CC"/>
          </a:solidFill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Isosceles Triangle 100"/>
          <p:cNvSpPr/>
          <p:nvPr/>
        </p:nvSpPr>
        <p:spPr>
          <a:xfrm rot="5400000">
            <a:off x="930658" y="3918698"/>
            <a:ext cx="394447" cy="212904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7" name="Picture 10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275" y="3442826"/>
            <a:ext cx="1524000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8" name="Picture 10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678" y="3468004"/>
            <a:ext cx="1524000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9" name="Picture 10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938" y="3451793"/>
            <a:ext cx="1524000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10" name="Picture 10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4341" y="3442826"/>
            <a:ext cx="1524000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11" name="Picture 1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353" y="3437106"/>
            <a:ext cx="1524000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12" name="Picture 1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748" y="3467562"/>
            <a:ext cx="1524000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13" name="Picture 1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0407" y="3418977"/>
            <a:ext cx="1524000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sp>
        <p:nvSpPr>
          <p:cNvPr id="114" name="Oval 113"/>
          <p:cNvSpPr/>
          <p:nvPr/>
        </p:nvSpPr>
        <p:spPr>
          <a:xfrm>
            <a:off x="6961083" y="3943129"/>
            <a:ext cx="94126" cy="89646"/>
          </a:xfrm>
          <a:prstGeom prst="ellipse">
            <a:avLst/>
          </a:prstGeom>
          <a:solidFill>
            <a:srgbClr val="3333CC"/>
          </a:solidFill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/>
          <p:cNvSpPr/>
          <p:nvPr/>
        </p:nvSpPr>
        <p:spPr>
          <a:xfrm>
            <a:off x="7226658" y="3933647"/>
            <a:ext cx="94126" cy="89646"/>
          </a:xfrm>
          <a:prstGeom prst="ellipse">
            <a:avLst/>
          </a:prstGeom>
          <a:solidFill>
            <a:srgbClr val="3333CC"/>
          </a:solidFill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/>
          <p:cNvSpPr/>
          <p:nvPr/>
        </p:nvSpPr>
        <p:spPr>
          <a:xfrm>
            <a:off x="7451895" y="3943129"/>
            <a:ext cx="94126" cy="89646"/>
          </a:xfrm>
          <a:prstGeom prst="ellipse">
            <a:avLst/>
          </a:prstGeom>
          <a:solidFill>
            <a:srgbClr val="3333CC"/>
          </a:solidFill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9" name="Picture 1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1922" y="3353179"/>
            <a:ext cx="1524000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20" name="Picture 1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325" y="3378357"/>
            <a:ext cx="1524000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21" name="Picture 1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6585" y="3362146"/>
            <a:ext cx="1524000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22" name="Picture 1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1848" y="3389038"/>
            <a:ext cx="1524000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sp>
        <p:nvSpPr>
          <p:cNvPr id="123" name="Oval 122"/>
          <p:cNvSpPr/>
          <p:nvPr/>
        </p:nvSpPr>
        <p:spPr>
          <a:xfrm>
            <a:off x="8446711" y="3943129"/>
            <a:ext cx="94126" cy="89646"/>
          </a:xfrm>
          <a:prstGeom prst="ellipse">
            <a:avLst/>
          </a:prstGeom>
          <a:solidFill>
            <a:srgbClr val="3333CC"/>
          </a:solidFill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/>
          <p:cNvSpPr/>
          <p:nvPr/>
        </p:nvSpPr>
        <p:spPr>
          <a:xfrm>
            <a:off x="8697440" y="3943129"/>
            <a:ext cx="94126" cy="89646"/>
          </a:xfrm>
          <a:prstGeom prst="ellipse">
            <a:avLst/>
          </a:prstGeom>
          <a:solidFill>
            <a:srgbClr val="3333CC"/>
          </a:solidFill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/>
          <p:cNvSpPr/>
          <p:nvPr/>
        </p:nvSpPr>
        <p:spPr>
          <a:xfrm>
            <a:off x="8974230" y="3943129"/>
            <a:ext cx="94126" cy="89646"/>
          </a:xfrm>
          <a:prstGeom prst="ellipse">
            <a:avLst/>
          </a:prstGeom>
          <a:solidFill>
            <a:srgbClr val="3333CC"/>
          </a:solidFill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/>
          <p:cNvSpPr/>
          <p:nvPr/>
        </p:nvSpPr>
        <p:spPr>
          <a:xfrm>
            <a:off x="9262498" y="3943129"/>
            <a:ext cx="94126" cy="89646"/>
          </a:xfrm>
          <a:prstGeom prst="ellipse">
            <a:avLst/>
          </a:prstGeom>
          <a:solidFill>
            <a:srgbClr val="3333CC"/>
          </a:solidFill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/>
          <p:cNvSpPr/>
          <p:nvPr/>
        </p:nvSpPr>
        <p:spPr>
          <a:xfrm>
            <a:off x="9468404" y="3943129"/>
            <a:ext cx="94126" cy="89646"/>
          </a:xfrm>
          <a:prstGeom prst="ellipse">
            <a:avLst/>
          </a:prstGeom>
          <a:solidFill>
            <a:srgbClr val="3333CC"/>
          </a:solidFill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Brace 5"/>
          <p:cNvSpPr/>
          <p:nvPr/>
        </p:nvSpPr>
        <p:spPr>
          <a:xfrm rot="5400000">
            <a:off x="7866987" y="-1301311"/>
            <a:ext cx="402487" cy="5674667"/>
          </a:xfrm>
          <a:prstGeom prst="leftBrace">
            <a:avLst>
              <a:gd name="adj1" fmla="val 8333"/>
              <a:gd name="adj2" fmla="val 50158"/>
            </a:avLst>
          </a:prstGeom>
          <a:ln w="28575">
            <a:solidFill>
              <a:srgbClr val="33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789768" y="990596"/>
            <a:ext cx="1396254" cy="2958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T1 frames =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8" name="Left Brace 127"/>
          <p:cNvSpPr/>
          <p:nvPr/>
        </p:nvSpPr>
        <p:spPr>
          <a:xfrm rot="5400000" flipH="1" flipV="1">
            <a:off x="7993888" y="1808104"/>
            <a:ext cx="402487" cy="6610907"/>
          </a:xfrm>
          <a:prstGeom prst="leftBrace">
            <a:avLst>
              <a:gd name="adj1" fmla="val 8333"/>
              <a:gd name="adj2" fmla="val 50158"/>
            </a:avLst>
          </a:prstGeom>
          <a:ln w="28575">
            <a:solidFill>
              <a:srgbClr val="33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TextBox 131"/>
          <p:cNvSpPr txBox="1"/>
          <p:nvPr/>
        </p:nvSpPr>
        <p:spPr>
          <a:xfrm>
            <a:off x="4454322" y="5712051"/>
            <a:ext cx="7198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Figure : Varying length representations for videos of different sizes</a:t>
            </a:r>
            <a:endParaRPr lang="en-US" dirty="0"/>
          </a:p>
        </p:txBody>
      </p:sp>
      <p:sp>
        <p:nvSpPr>
          <p:cNvPr id="133" name="Rectangle 132"/>
          <p:cNvSpPr/>
          <p:nvPr/>
        </p:nvSpPr>
        <p:spPr>
          <a:xfrm>
            <a:off x="500928" y="3019528"/>
            <a:ext cx="1253906" cy="258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Video 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4" name="Rectangle 133"/>
          <p:cNvSpPr/>
          <p:nvPr/>
        </p:nvSpPr>
        <p:spPr>
          <a:xfrm>
            <a:off x="555263" y="4575144"/>
            <a:ext cx="1253906" cy="258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Video 2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135" name="Table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801258"/>
              </p:ext>
            </p:extLst>
          </p:nvPr>
        </p:nvGraphicFramePr>
        <p:xfrm>
          <a:off x="6103185" y="1012169"/>
          <a:ext cx="4845064" cy="36576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692152"/>
                <a:gridCol w="692152"/>
                <a:gridCol w="692152"/>
                <a:gridCol w="692152"/>
                <a:gridCol w="692152"/>
                <a:gridCol w="692152"/>
                <a:gridCol w="692152"/>
              </a:tblGrid>
              <a:tr h="293991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F</a:t>
                      </a:r>
                      <a:r>
                        <a:rPr lang="en-IN" sz="1200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F</a:t>
                      </a:r>
                      <a:r>
                        <a:rPr lang="en-IN" sz="1200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……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F</a:t>
                      </a:r>
                      <a:r>
                        <a:rPr lang="en-IN" sz="1200" dirty="0" smtClean="0"/>
                        <a:t>t</a:t>
                      </a:r>
                      <a:r>
                        <a:rPr lang="en-IN" sz="900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…….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………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F</a:t>
                      </a:r>
                      <a:r>
                        <a:rPr lang="en-IN" sz="1100" dirty="0" smtClean="0"/>
                        <a:t>T</a:t>
                      </a:r>
                      <a:r>
                        <a:rPr lang="en-IN" sz="900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6" name="Rectangle 135"/>
          <p:cNvSpPr/>
          <p:nvPr/>
        </p:nvSpPr>
        <p:spPr>
          <a:xfrm>
            <a:off x="3748332" y="5249676"/>
            <a:ext cx="1396254" cy="295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T2 </a:t>
            </a:r>
            <a:r>
              <a:rPr lang="en-IN" dirty="0" smtClean="0">
                <a:solidFill>
                  <a:schemeClr val="tx1"/>
                </a:solidFill>
              </a:rPr>
              <a:t>frames =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275506"/>
              </p:ext>
            </p:extLst>
          </p:nvPr>
        </p:nvGraphicFramePr>
        <p:xfrm>
          <a:off x="5144587" y="5219189"/>
          <a:ext cx="6670899" cy="387521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741211"/>
                <a:gridCol w="741211"/>
                <a:gridCol w="741211"/>
                <a:gridCol w="741211"/>
                <a:gridCol w="741211"/>
                <a:gridCol w="741211"/>
                <a:gridCol w="741211"/>
                <a:gridCol w="741211"/>
                <a:gridCol w="741211"/>
              </a:tblGrid>
              <a:tr h="387521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F</a:t>
                      </a:r>
                      <a:r>
                        <a:rPr lang="en-IN" sz="1200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F</a:t>
                      </a:r>
                      <a:r>
                        <a:rPr lang="en-IN" sz="1200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……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F</a:t>
                      </a:r>
                      <a:r>
                        <a:rPr lang="en-IN" sz="1200" dirty="0" smtClean="0"/>
                        <a:t>t</a:t>
                      </a:r>
                      <a:r>
                        <a:rPr lang="en-IN" sz="900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…….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……..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…….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………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F</a:t>
                      </a:r>
                      <a:r>
                        <a:rPr lang="en-IN" sz="1100" dirty="0" smtClean="0"/>
                        <a:t>T</a:t>
                      </a:r>
                      <a:r>
                        <a:rPr lang="en-IN" sz="900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8270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Classification of videos : Challenges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52" y="1290918"/>
            <a:ext cx="12129247" cy="5201957"/>
          </a:xfrm>
        </p:spPr>
        <p:txBody>
          <a:bodyPr>
            <a:normAutofit/>
          </a:bodyPr>
          <a:lstStyle/>
          <a:p>
            <a:pPr algn="just"/>
            <a:r>
              <a:rPr lang="en-IN" dirty="0" smtClean="0"/>
              <a:t>Varying length representations</a:t>
            </a:r>
          </a:p>
          <a:p>
            <a:pPr algn="just"/>
            <a:r>
              <a:rPr lang="en-IN" dirty="0" smtClean="0"/>
              <a:t>High dimensionality</a:t>
            </a:r>
          </a:p>
          <a:p>
            <a:pPr algn="just"/>
            <a:endParaRPr lang="en-IN" dirty="0"/>
          </a:p>
          <a:p>
            <a:pPr algn="just"/>
            <a:endParaRPr lang="en-IN" dirty="0" smtClean="0"/>
          </a:p>
          <a:p>
            <a:pPr algn="just"/>
            <a:endParaRPr lang="en-IN" dirty="0"/>
          </a:p>
          <a:p>
            <a:pPr algn="just"/>
            <a:endParaRPr lang="en-IN" dirty="0" smtClean="0"/>
          </a:p>
          <a:p>
            <a:pPr algn="just"/>
            <a:endParaRPr lang="en-IN" dirty="0"/>
          </a:p>
          <a:p>
            <a:pPr algn="just"/>
            <a:endParaRPr lang="en-IN" dirty="0" smtClean="0"/>
          </a:p>
          <a:p>
            <a:pPr algn="just"/>
            <a:r>
              <a:rPr lang="en-IN" dirty="0" smtClean="0"/>
              <a:t>Intra-class variability</a:t>
            </a:r>
          </a:p>
          <a:p>
            <a:pPr algn="just"/>
            <a:r>
              <a:rPr lang="en-IN" dirty="0" smtClean="0"/>
              <a:t>Inter-class similarity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8D39E0D2-826D-43B4-9989-A258E5099C52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lang="en-US" sz="140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10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0659" y="1837763"/>
            <a:ext cx="2967318" cy="439270"/>
          </a:xfrm>
          <a:prstGeom prst="rect">
            <a:avLst/>
          </a:prstGeom>
          <a:noFill/>
          <a:ln w="38100"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096" y="2282417"/>
            <a:ext cx="1524000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068" y="2207553"/>
            <a:ext cx="1524000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9257" y="2242077"/>
            <a:ext cx="1524000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9138" y="2215178"/>
            <a:ext cx="1524000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3328" y="2230155"/>
            <a:ext cx="1571064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208" y="2242077"/>
            <a:ext cx="1524000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1285" y="2282417"/>
            <a:ext cx="1571064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69" y="2358808"/>
            <a:ext cx="1524000" cy="1143000"/>
          </a:xfrm>
          <a:prstGeom prst="rect">
            <a:avLst/>
          </a:prstGeom>
        </p:spPr>
      </p:pic>
      <p:sp>
        <p:nvSpPr>
          <p:cNvPr id="21" name="Isosceles Triangle 20"/>
          <p:cNvSpPr/>
          <p:nvPr/>
        </p:nvSpPr>
        <p:spPr>
          <a:xfrm rot="5400000">
            <a:off x="1433234" y="2781703"/>
            <a:ext cx="394447" cy="212904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/>
          <p:cNvSpPr/>
          <p:nvPr/>
        </p:nvSpPr>
        <p:spPr>
          <a:xfrm>
            <a:off x="2600329" y="2762654"/>
            <a:ext cx="2456330" cy="322725"/>
          </a:xfrm>
          <a:prstGeom prst="rightArrow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4546219" y="3501808"/>
            <a:ext cx="6190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 smtClean="0"/>
              <a:t>Time t=             0       1       2        3           4                                 t                                    T-2      T-1          T</a:t>
            </a:r>
            <a:endParaRPr lang="en-US" sz="1200" b="1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9888" y="2221907"/>
            <a:ext cx="1524001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2704" y="2213844"/>
            <a:ext cx="1571064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9921" y="2242077"/>
            <a:ext cx="1524000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736" y="2244942"/>
            <a:ext cx="1571064" cy="1143000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sp>
        <p:nvSpPr>
          <p:cNvPr id="28" name="Oval 27"/>
          <p:cNvSpPr/>
          <p:nvPr/>
        </p:nvSpPr>
        <p:spPr>
          <a:xfrm>
            <a:off x="8942298" y="2762927"/>
            <a:ext cx="94126" cy="89646"/>
          </a:xfrm>
          <a:prstGeom prst="ellipse">
            <a:avLst/>
          </a:prstGeom>
          <a:solidFill>
            <a:srgbClr val="3333CC"/>
          </a:solidFill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8501893" y="2771619"/>
            <a:ext cx="94126" cy="89646"/>
          </a:xfrm>
          <a:prstGeom prst="ellipse">
            <a:avLst/>
          </a:prstGeom>
          <a:solidFill>
            <a:srgbClr val="3333CC"/>
          </a:solidFill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9124949" y="2748584"/>
            <a:ext cx="94126" cy="89646"/>
          </a:xfrm>
          <a:prstGeom prst="ellipse">
            <a:avLst/>
          </a:prstGeom>
          <a:solidFill>
            <a:srgbClr val="3333CC"/>
          </a:solidFill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8690158" y="2764271"/>
            <a:ext cx="94126" cy="89646"/>
          </a:xfrm>
          <a:prstGeom prst="ellipse">
            <a:avLst/>
          </a:prstGeom>
          <a:solidFill>
            <a:srgbClr val="3333CC"/>
          </a:solidFill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7588622" y="2789817"/>
            <a:ext cx="94126" cy="89646"/>
          </a:xfrm>
          <a:prstGeom prst="ellipse">
            <a:avLst/>
          </a:prstGeom>
          <a:solidFill>
            <a:srgbClr val="3333CC"/>
          </a:solidFill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7148217" y="2798509"/>
            <a:ext cx="94126" cy="89646"/>
          </a:xfrm>
          <a:prstGeom prst="ellipse">
            <a:avLst/>
          </a:prstGeom>
          <a:solidFill>
            <a:srgbClr val="3333CC"/>
          </a:solidFill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7336482" y="2791161"/>
            <a:ext cx="94126" cy="89646"/>
          </a:xfrm>
          <a:prstGeom prst="ellipse">
            <a:avLst/>
          </a:prstGeom>
          <a:solidFill>
            <a:srgbClr val="3333CC"/>
          </a:solidFill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9900" y="4037262"/>
            <a:ext cx="1524000" cy="11430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573677"/>
              </p:ext>
            </p:extLst>
          </p:nvPr>
        </p:nvGraphicFramePr>
        <p:xfrm>
          <a:off x="4854940" y="4058400"/>
          <a:ext cx="1518960" cy="110072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79740"/>
                <a:gridCol w="379740"/>
                <a:gridCol w="379740"/>
                <a:gridCol w="379740"/>
              </a:tblGrid>
              <a:tr h="275181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noFill/>
                  </a:tcPr>
                </a:tc>
              </a:tr>
              <a:tr h="275181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noFill/>
                  </a:tcPr>
                </a:tc>
              </a:tr>
              <a:tr h="275181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</a:tr>
              <a:tr h="275181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pic>
        <p:nvPicPr>
          <p:cNvPr id="38" name="Picture 3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392" y="4028157"/>
            <a:ext cx="1524000" cy="1143000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195" y="4037262"/>
            <a:ext cx="1524000" cy="1143000"/>
          </a:xfrm>
          <a:prstGeom prst="rect">
            <a:avLst/>
          </a:prstGeom>
        </p:spPr>
      </p:pic>
      <p:graphicFrame>
        <p:nvGraphicFramePr>
          <p:cNvPr id="4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628916"/>
              </p:ext>
            </p:extLst>
          </p:nvPr>
        </p:nvGraphicFramePr>
        <p:xfrm>
          <a:off x="7632599" y="4037262"/>
          <a:ext cx="1490104" cy="113179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72526"/>
                <a:gridCol w="372526"/>
                <a:gridCol w="372526"/>
                <a:gridCol w="372526"/>
              </a:tblGrid>
              <a:tr h="28051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noFill/>
                  </a:tcPr>
                </a:tc>
              </a:tr>
              <a:tr h="283759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noFill/>
                  </a:tcPr>
                </a:tc>
              </a:tr>
              <a:tr h="283759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</a:tr>
              <a:tr h="283759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882577"/>
              </p:ext>
            </p:extLst>
          </p:nvPr>
        </p:nvGraphicFramePr>
        <p:xfrm>
          <a:off x="9921403" y="4049295"/>
          <a:ext cx="1518960" cy="110072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79740"/>
                <a:gridCol w="379740"/>
                <a:gridCol w="379740"/>
                <a:gridCol w="379740"/>
              </a:tblGrid>
              <a:tr h="275181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noFill/>
                  </a:tcPr>
                </a:tc>
              </a:tr>
              <a:tr h="275181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noFill/>
                  </a:tcPr>
                </a:tc>
              </a:tr>
              <a:tr h="275181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</a:tr>
              <a:tr h="275181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6" name="Down Arrow 5"/>
          <p:cNvSpPr/>
          <p:nvPr/>
        </p:nvSpPr>
        <p:spPr>
          <a:xfrm>
            <a:off x="5340718" y="3613957"/>
            <a:ext cx="237562" cy="371975"/>
          </a:xfrm>
          <a:prstGeom prst="downArrow">
            <a:avLst/>
          </a:prstGeom>
          <a:solidFill>
            <a:srgbClr val="3333CC"/>
          </a:solidFill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773696" y="5205242"/>
            <a:ext cx="1609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D-dimensional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7594667" y="5169054"/>
            <a:ext cx="1609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D-dimensional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9903195" y="5205242"/>
            <a:ext cx="1609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D-dimensional</a:t>
            </a:r>
            <a:endParaRPr lang="en-US" dirty="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355565"/>
              </p:ext>
            </p:extLst>
          </p:nvPr>
        </p:nvGraphicFramePr>
        <p:xfrm>
          <a:off x="4631387" y="5517713"/>
          <a:ext cx="6880976" cy="731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60122"/>
                <a:gridCol w="860122"/>
                <a:gridCol w="860122"/>
                <a:gridCol w="860122"/>
                <a:gridCol w="860122"/>
                <a:gridCol w="860122"/>
                <a:gridCol w="860122"/>
                <a:gridCol w="860122"/>
              </a:tblGrid>
              <a:tr h="331577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D-dim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D-dim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D-dim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D-dim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331577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F</a:t>
                      </a:r>
                      <a:r>
                        <a:rPr lang="en-IN" sz="1200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F</a:t>
                      </a:r>
                      <a:r>
                        <a:rPr lang="en-IN" sz="1200" dirty="0" smtClean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…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…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F</a:t>
                      </a:r>
                      <a:r>
                        <a:rPr lang="en-IN" sz="1400" dirty="0" smtClean="0"/>
                        <a:t>t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…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….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F</a:t>
                      </a:r>
                      <a:r>
                        <a:rPr lang="en-IN" sz="1200" dirty="0" smtClean="0"/>
                        <a:t>T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9" name="Down Arrow 48"/>
          <p:cNvSpPr/>
          <p:nvPr/>
        </p:nvSpPr>
        <p:spPr>
          <a:xfrm>
            <a:off x="8499657" y="3578476"/>
            <a:ext cx="237562" cy="371975"/>
          </a:xfrm>
          <a:prstGeom prst="downArrow">
            <a:avLst/>
          </a:prstGeom>
          <a:solidFill>
            <a:srgbClr val="3333CC"/>
          </a:solidFill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Down Arrow 49"/>
          <p:cNvSpPr/>
          <p:nvPr/>
        </p:nvSpPr>
        <p:spPr>
          <a:xfrm>
            <a:off x="10588998" y="3606089"/>
            <a:ext cx="237562" cy="371975"/>
          </a:xfrm>
          <a:prstGeom prst="downArrow">
            <a:avLst/>
          </a:prstGeom>
          <a:solidFill>
            <a:srgbClr val="3333CC"/>
          </a:solidFill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4193242" y="6179556"/>
            <a:ext cx="7198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Figure : High dimensionality of video data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290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Classification of videos : Challenges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52" y="1290918"/>
            <a:ext cx="12129247" cy="5201957"/>
          </a:xfrm>
        </p:spPr>
        <p:txBody>
          <a:bodyPr/>
          <a:lstStyle/>
          <a:p>
            <a:pPr algn="just"/>
            <a:r>
              <a:rPr lang="en-IN" dirty="0" smtClean="0"/>
              <a:t>Varying length representations</a:t>
            </a:r>
          </a:p>
          <a:p>
            <a:pPr algn="just"/>
            <a:r>
              <a:rPr lang="en-IN" dirty="0" smtClean="0"/>
              <a:t>High dimensionality</a:t>
            </a:r>
          </a:p>
          <a:p>
            <a:pPr algn="just"/>
            <a:r>
              <a:rPr lang="en-IN" dirty="0" smtClean="0"/>
              <a:t>Intra-class variability</a:t>
            </a:r>
          </a:p>
          <a:p>
            <a:pPr algn="just"/>
            <a:endParaRPr lang="en-IN" dirty="0"/>
          </a:p>
          <a:p>
            <a:pPr algn="just"/>
            <a:endParaRPr lang="en-IN" dirty="0" smtClean="0"/>
          </a:p>
          <a:p>
            <a:pPr algn="just"/>
            <a:endParaRPr lang="en-IN" dirty="0"/>
          </a:p>
          <a:p>
            <a:pPr algn="just"/>
            <a:endParaRPr lang="en-IN" dirty="0" smtClean="0"/>
          </a:p>
          <a:p>
            <a:pPr algn="just"/>
            <a:endParaRPr lang="en-IN" dirty="0"/>
          </a:p>
          <a:p>
            <a:pPr algn="just"/>
            <a:endParaRPr lang="en-IN" dirty="0" smtClean="0"/>
          </a:p>
          <a:p>
            <a:pPr algn="just"/>
            <a:r>
              <a:rPr lang="en-IN" dirty="0" smtClean="0"/>
              <a:t>Inter-class similarity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54320D3C-5D32-4620-9AC9-83636B011786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11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0659" y="2321861"/>
            <a:ext cx="3092824" cy="439270"/>
          </a:xfrm>
          <a:prstGeom prst="rect">
            <a:avLst/>
          </a:prstGeom>
          <a:noFill/>
          <a:ln w="38100"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282" y="2969720"/>
            <a:ext cx="2332906" cy="174968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2969720"/>
            <a:ext cx="2335306" cy="1751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496670" y="5235905"/>
            <a:ext cx="7198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Figure : Variations in the running class</a:t>
            </a:r>
            <a:endParaRPr lang="en-US" dirty="0"/>
          </a:p>
        </p:txBody>
      </p:sp>
      <p:sp>
        <p:nvSpPr>
          <p:cNvPr id="16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424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Classification of videos : Challenges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53" y="1260614"/>
            <a:ext cx="12129247" cy="4903975"/>
          </a:xfrm>
        </p:spPr>
        <p:txBody>
          <a:bodyPr/>
          <a:lstStyle/>
          <a:p>
            <a:pPr algn="just"/>
            <a:r>
              <a:rPr lang="en-IN" dirty="0" smtClean="0"/>
              <a:t>Varying length representations</a:t>
            </a:r>
          </a:p>
          <a:p>
            <a:pPr algn="just"/>
            <a:r>
              <a:rPr lang="en-IN" dirty="0" smtClean="0"/>
              <a:t>High dimensionality</a:t>
            </a:r>
          </a:p>
          <a:p>
            <a:pPr algn="just"/>
            <a:r>
              <a:rPr lang="en-IN" dirty="0" smtClean="0"/>
              <a:t>Intra-class variability</a:t>
            </a:r>
          </a:p>
          <a:p>
            <a:pPr algn="just"/>
            <a:r>
              <a:rPr lang="en-IN" dirty="0" smtClean="0"/>
              <a:t>Inter-class similarity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4C5FED8B-E50F-4DE3-88DA-1399C0582AC5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12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0658" y="2814915"/>
            <a:ext cx="3003177" cy="439270"/>
          </a:xfrm>
          <a:prstGeom prst="rect">
            <a:avLst/>
          </a:prstGeom>
          <a:noFill/>
          <a:ln w="38100"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70" y="3429000"/>
            <a:ext cx="1748118" cy="142690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4904" y="3443063"/>
            <a:ext cx="1967755" cy="141921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375" y="3443063"/>
            <a:ext cx="1893954" cy="14204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945" y="3429000"/>
            <a:ext cx="1927572" cy="14456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40658" y="5349769"/>
            <a:ext cx="10766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Figure : (a) Similarity between </a:t>
            </a:r>
            <a:r>
              <a:rPr lang="en-IN" dirty="0"/>
              <a:t>Karate </a:t>
            </a:r>
            <a:r>
              <a:rPr lang="en-IN" dirty="0" smtClean="0"/>
              <a:t>and Taekwondo </a:t>
            </a:r>
            <a:r>
              <a:rPr lang="en-IN" dirty="0"/>
              <a:t>classes </a:t>
            </a:r>
            <a:endParaRPr lang="en-IN" dirty="0" smtClean="0"/>
          </a:p>
          <a:p>
            <a:pPr algn="ctr"/>
            <a:r>
              <a:rPr lang="en-IN" dirty="0" smtClean="0"/>
              <a:t>(b) Similarity between running and walking classes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312894" y="4975412"/>
            <a:ext cx="502024" cy="376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(a)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8610600" y="4984403"/>
            <a:ext cx="502024" cy="376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(b)</a:t>
            </a:r>
            <a:endParaRPr lang="en-US" dirty="0"/>
          </a:p>
        </p:txBody>
      </p:sp>
      <p:sp>
        <p:nvSpPr>
          <p:cNvPr id="1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5640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/>
          <a:lstStyle/>
          <a:p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Problem Statement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53" y="1260614"/>
            <a:ext cx="12129247" cy="4903975"/>
          </a:xfrm>
        </p:spPr>
        <p:txBody>
          <a:bodyPr/>
          <a:lstStyle/>
          <a:p>
            <a:pPr algn="just"/>
            <a:r>
              <a:rPr lang="en-IN" dirty="0" smtClean="0"/>
              <a:t>For the task of human activity recognition, we need to come up with a methodology that does the following:-</a:t>
            </a:r>
          </a:p>
          <a:p>
            <a:pPr algn="just"/>
            <a:endParaRPr lang="en-IN" dirty="0" smtClean="0"/>
          </a:p>
          <a:p>
            <a:pPr lvl="1" algn="just"/>
            <a:r>
              <a:rPr lang="en-IN" dirty="0" smtClean="0"/>
              <a:t>The  model should capture the appearance based information in the video.</a:t>
            </a:r>
          </a:p>
          <a:p>
            <a:pPr lvl="1" algn="just"/>
            <a:endParaRPr lang="en-IN" dirty="0" smtClean="0"/>
          </a:p>
          <a:p>
            <a:pPr lvl="1" algn="just"/>
            <a:r>
              <a:rPr lang="en-IN" dirty="0" smtClean="0"/>
              <a:t>It should also capture the temporal information of a video.</a:t>
            </a:r>
          </a:p>
          <a:p>
            <a:pPr lvl="1" algn="just"/>
            <a:endParaRPr lang="en-IN" dirty="0" smtClean="0"/>
          </a:p>
          <a:p>
            <a:pPr lvl="1" algn="just"/>
            <a:r>
              <a:rPr lang="en-IN" dirty="0" smtClean="0"/>
              <a:t>The model captures the sequential information in video  accurately.</a:t>
            </a:r>
          </a:p>
          <a:p>
            <a:pPr lvl="1" algn="just"/>
            <a:endParaRPr lang="en-IN" dirty="0" smtClean="0"/>
          </a:p>
          <a:p>
            <a:pPr lvl="1" algn="just"/>
            <a:r>
              <a:rPr lang="en-IN" dirty="0" smtClean="0"/>
              <a:t>The model should have a definitive reason to classify a given video by using the information we capture above.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4C5FED8B-E50F-4DE3-88DA-1399C0582AC5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13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0604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/>
          <a:lstStyle/>
          <a:p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Related Work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4C5FED8B-E50F-4DE3-88DA-1399C0582AC5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14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39163" y="1289843"/>
            <a:ext cx="11530107" cy="5021309"/>
          </a:xfrm>
        </p:spPr>
        <p:txBody>
          <a:bodyPr/>
          <a:lstStyle/>
          <a:p>
            <a:r>
              <a:rPr lang="en-IN" dirty="0" smtClean="0"/>
              <a:t>SVM based methods</a:t>
            </a:r>
          </a:p>
          <a:p>
            <a:r>
              <a:rPr lang="en-IN" dirty="0" smtClean="0"/>
              <a:t>GMM based methods</a:t>
            </a:r>
          </a:p>
          <a:p>
            <a:r>
              <a:rPr lang="en-IN" dirty="0" smtClean="0"/>
              <a:t>HMM based methods</a:t>
            </a:r>
          </a:p>
          <a:p>
            <a:endParaRPr lang="en-US" dirty="0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1673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Related Work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52" y="1290918"/>
            <a:ext cx="12129247" cy="4903975"/>
          </a:xfrm>
        </p:spPr>
        <p:txBody>
          <a:bodyPr/>
          <a:lstStyle/>
          <a:p>
            <a:pPr algn="just"/>
            <a:r>
              <a:rPr lang="en-IN" dirty="0" smtClean="0"/>
              <a:t>SVM based methods</a:t>
            </a:r>
          </a:p>
          <a:p>
            <a:pPr lvl="1" algn="just"/>
            <a:r>
              <a:rPr lang="en-IN" dirty="0" smtClean="0"/>
              <a:t>Method 1 </a:t>
            </a:r>
            <a:r>
              <a:rPr lang="en-IN" dirty="0" smtClean="0"/>
              <a:t>: By </a:t>
            </a:r>
            <a:r>
              <a:rPr lang="en-IN" dirty="0" err="1" smtClean="0"/>
              <a:t>Yegnanarayana</a:t>
            </a:r>
            <a:r>
              <a:rPr lang="en-IN" dirty="0" smtClean="0"/>
              <a:t> et al</a:t>
            </a:r>
            <a:r>
              <a:rPr lang="en-IN" sz="1800" dirty="0" smtClean="0"/>
              <a:t>.[2]</a:t>
            </a:r>
            <a:endParaRPr lang="en-IN" dirty="0" smtClean="0"/>
          </a:p>
          <a:p>
            <a:pPr lvl="2" algn="just"/>
            <a:r>
              <a:rPr lang="en-IN" dirty="0" smtClean="0"/>
              <a:t>Uses 3 kinds of features : </a:t>
            </a:r>
            <a:r>
              <a:rPr lang="en-IN" dirty="0" err="1" smtClean="0"/>
              <a:t>Color</a:t>
            </a:r>
            <a:r>
              <a:rPr lang="en-IN" dirty="0" smtClean="0"/>
              <a:t> Features, Shape features &amp; Motion features</a:t>
            </a:r>
          </a:p>
          <a:p>
            <a:pPr lvl="2" algn="just"/>
            <a:r>
              <a:rPr lang="en-IN" dirty="0" smtClean="0"/>
              <a:t>Uses 1-vs-rest approach for SVM classification</a:t>
            </a:r>
          </a:p>
          <a:p>
            <a:r>
              <a:rPr lang="en-IN" dirty="0" smtClean="0"/>
              <a:t>GMM based methods</a:t>
            </a:r>
          </a:p>
          <a:p>
            <a:r>
              <a:rPr lang="en-IN" dirty="0" smtClean="0"/>
              <a:t>HMM based methods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5AA7BE8D-9F71-443F-8267-3A9C216A4F50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15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0659" y="1299881"/>
            <a:ext cx="3092824" cy="439270"/>
          </a:xfrm>
          <a:prstGeom prst="rect">
            <a:avLst/>
          </a:prstGeom>
          <a:noFill/>
          <a:ln w="38100"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282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Related Work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52" y="1290918"/>
            <a:ext cx="12129247" cy="5201957"/>
          </a:xfrm>
        </p:spPr>
        <p:txBody>
          <a:bodyPr/>
          <a:lstStyle/>
          <a:p>
            <a:pPr algn="just"/>
            <a:r>
              <a:rPr lang="en-IN" dirty="0" smtClean="0"/>
              <a:t>SVM based methods</a:t>
            </a:r>
          </a:p>
          <a:p>
            <a:pPr lvl="1" algn="just"/>
            <a:r>
              <a:rPr lang="en-IN" dirty="0" smtClean="0"/>
              <a:t>Method 2 : Directed Acyclic Graph based SVM (DAGSVM</a:t>
            </a:r>
            <a:r>
              <a:rPr lang="en-IN" dirty="0" smtClean="0"/>
              <a:t>) by Jiang et al.</a:t>
            </a:r>
            <a:r>
              <a:rPr lang="en-IN" sz="1800" dirty="0" smtClean="0"/>
              <a:t>[3]</a:t>
            </a:r>
            <a:endParaRPr lang="en-IN" dirty="0" smtClean="0"/>
          </a:p>
          <a:p>
            <a:pPr lvl="2" algn="just"/>
            <a:r>
              <a:rPr lang="en-IN" dirty="0" smtClean="0"/>
              <a:t>Uses features based on </a:t>
            </a:r>
            <a:r>
              <a:rPr lang="en-IN" dirty="0" smtClean="0"/>
              <a:t>video </a:t>
            </a:r>
            <a:r>
              <a:rPr lang="en-IN" dirty="0" smtClean="0"/>
              <a:t>editing, </a:t>
            </a:r>
            <a:r>
              <a:rPr lang="en-IN" dirty="0" err="1" smtClean="0"/>
              <a:t>color</a:t>
            </a:r>
            <a:r>
              <a:rPr lang="en-IN" dirty="0" smtClean="0"/>
              <a:t>, texture and motion.</a:t>
            </a:r>
          </a:p>
          <a:p>
            <a:pPr lvl="2" algn="just"/>
            <a:r>
              <a:rPr lang="en-IN" dirty="0" smtClean="0"/>
              <a:t>Uses 1-vs-1 SVM classifiers arranged as a directed acyclic graph.</a:t>
            </a:r>
          </a:p>
          <a:p>
            <a:pPr lvl="2" algn="just"/>
            <a:endParaRPr lang="en-IN" dirty="0" smtClean="0"/>
          </a:p>
          <a:p>
            <a:pPr lvl="2" algn="just"/>
            <a:endParaRPr lang="en-IN" dirty="0"/>
          </a:p>
          <a:p>
            <a:pPr lvl="2" algn="just"/>
            <a:endParaRPr lang="en-IN" dirty="0" smtClean="0"/>
          </a:p>
          <a:p>
            <a:pPr lvl="2" algn="just"/>
            <a:endParaRPr lang="en-IN" dirty="0"/>
          </a:p>
          <a:p>
            <a:pPr lvl="2" algn="just"/>
            <a:endParaRPr lang="en-IN" dirty="0" smtClean="0"/>
          </a:p>
          <a:p>
            <a:pPr lvl="2" algn="just"/>
            <a:endParaRPr lang="en-IN" dirty="0" smtClean="0"/>
          </a:p>
          <a:p>
            <a:pPr lvl="2" algn="just"/>
            <a:endParaRPr lang="en-IN" dirty="0" smtClean="0"/>
          </a:p>
          <a:p>
            <a:r>
              <a:rPr lang="en-IN" dirty="0"/>
              <a:t>GMM based methods</a:t>
            </a:r>
          </a:p>
          <a:p>
            <a:r>
              <a:rPr lang="en-IN" dirty="0"/>
              <a:t>HMM based methods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93271284-4027-4DE8-B582-88855ADCBB25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16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0659" y="1299881"/>
            <a:ext cx="3092824" cy="439270"/>
          </a:xfrm>
          <a:prstGeom prst="rect">
            <a:avLst/>
          </a:prstGeom>
          <a:noFill/>
          <a:ln w="38100"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6737" y="2798941"/>
            <a:ext cx="4793863" cy="24369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96670" y="5241505"/>
            <a:ext cx="7198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Figure </a:t>
            </a:r>
            <a:r>
              <a:rPr lang="en-IN" dirty="0" smtClean="0"/>
              <a:t>: </a:t>
            </a:r>
            <a:r>
              <a:rPr lang="en-IN" dirty="0" smtClean="0"/>
              <a:t>DAGSVM Approach</a:t>
            </a:r>
            <a:endParaRPr lang="en-US" dirty="0"/>
          </a:p>
        </p:txBody>
      </p:sp>
      <p:sp>
        <p:nvSpPr>
          <p:cNvPr id="15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269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Related Work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52" y="1290918"/>
            <a:ext cx="12129247" cy="4903975"/>
          </a:xfrm>
        </p:spPr>
        <p:txBody>
          <a:bodyPr/>
          <a:lstStyle/>
          <a:p>
            <a:pPr algn="just"/>
            <a:r>
              <a:rPr lang="en-IN" dirty="0" smtClean="0"/>
              <a:t>SVM based methods</a:t>
            </a:r>
          </a:p>
          <a:p>
            <a:pPr lvl="1" algn="just"/>
            <a:r>
              <a:rPr lang="en-IN" dirty="0" smtClean="0"/>
              <a:t>Method 3 : Hierarchical </a:t>
            </a:r>
            <a:r>
              <a:rPr lang="en-IN" dirty="0" smtClean="0"/>
              <a:t>SVM by Yuan et al.</a:t>
            </a:r>
            <a:r>
              <a:rPr lang="en-IN" sz="1800" dirty="0" smtClean="0"/>
              <a:t>[4]</a:t>
            </a:r>
            <a:endParaRPr lang="en-IN" dirty="0" smtClean="0"/>
          </a:p>
          <a:p>
            <a:pPr lvl="2" algn="just"/>
            <a:r>
              <a:rPr lang="en-IN" dirty="0" smtClean="0"/>
              <a:t>Uses Spatial features – face-frame ratio, brightness &amp; entropy.</a:t>
            </a:r>
          </a:p>
          <a:p>
            <a:pPr lvl="2" algn="just"/>
            <a:r>
              <a:rPr lang="en-IN" dirty="0" smtClean="0"/>
              <a:t>Uses Temporal features - </a:t>
            </a:r>
            <a:r>
              <a:rPr lang="en-US" dirty="0"/>
              <a:t>average shot length, cut percentage, average color diﬀerence </a:t>
            </a:r>
            <a:r>
              <a:rPr lang="en-US" dirty="0" smtClean="0"/>
              <a:t>&amp; </a:t>
            </a:r>
            <a:r>
              <a:rPr lang="en-US" dirty="0"/>
              <a:t>camera motion</a:t>
            </a:r>
            <a:r>
              <a:rPr lang="en-US" dirty="0" smtClean="0"/>
              <a:t>.</a:t>
            </a:r>
          </a:p>
          <a:p>
            <a:pPr lvl="2" algn="just"/>
            <a:r>
              <a:rPr lang="en-IN" dirty="0" smtClean="0"/>
              <a:t>Creates 2 trees:</a:t>
            </a:r>
          </a:p>
          <a:p>
            <a:pPr lvl="3" algn="just"/>
            <a:r>
              <a:rPr lang="en-IN" dirty="0" smtClean="0"/>
              <a:t>Local optimal SVM binary tree</a:t>
            </a:r>
          </a:p>
          <a:p>
            <a:pPr lvl="3" algn="just"/>
            <a:r>
              <a:rPr lang="en-IN" dirty="0" smtClean="0"/>
              <a:t>Global optimal SVM binary tree</a:t>
            </a:r>
            <a:endParaRPr lang="en-US" dirty="0"/>
          </a:p>
          <a:p>
            <a:pPr lvl="2" algn="just"/>
            <a:endParaRPr lang="en-IN" dirty="0" smtClean="0"/>
          </a:p>
          <a:p>
            <a:r>
              <a:rPr lang="en-IN" dirty="0"/>
              <a:t>GMM based methods</a:t>
            </a:r>
          </a:p>
          <a:p>
            <a:r>
              <a:rPr lang="en-IN" dirty="0"/>
              <a:t>HMM based methods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75B515B6-62B2-496F-9C9D-996AD90F3C06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17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0659" y="1299881"/>
            <a:ext cx="3092824" cy="439270"/>
          </a:xfrm>
          <a:prstGeom prst="rect">
            <a:avLst/>
          </a:prstGeom>
          <a:noFill/>
          <a:ln w="38100"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7870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047" y="3313113"/>
            <a:ext cx="6248400" cy="29025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859" y="1299881"/>
                <a:ext cx="11851342" cy="5201957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IN" dirty="0" smtClean="0"/>
                  <a:t>SVM based methods</a:t>
                </a:r>
                <a:endParaRPr lang="en-IN" dirty="0" smtClean="0"/>
              </a:p>
              <a:p>
                <a:pPr lvl="1" algn="just"/>
                <a:r>
                  <a:rPr lang="en-IN" dirty="0" smtClean="0"/>
                  <a:t>Method </a:t>
                </a:r>
                <a:r>
                  <a:rPr lang="en-IN" dirty="0" smtClean="0"/>
                  <a:t>4 </a:t>
                </a:r>
                <a:r>
                  <a:rPr lang="en-IN" dirty="0" smtClean="0"/>
                  <a:t>: </a:t>
                </a:r>
                <a:r>
                  <a:rPr lang="en-IN" dirty="0" smtClean="0"/>
                  <a:t>String Kernel by Ballan et al</a:t>
                </a:r>
                <a:r>
                  <a:rPr lang="en-IN" sz="1800" dirty="0" smtClean="0"/>
                  <a:t>.[5]</a:t>
                </a:r>
                <a:endParaRPr lang="en-IN" dirty="0" smtClean="0"/>
              </a:p>
              <a:p>
                <a:pPr lvl="2" algn="just"/>
                <a:r>
                  <a:rPr lang="en-US" dirty="0"/>
                  <a:t>Events are modeled as a sequence </a:t>
                </a:r>
                <a:r>
                  <a:rPr lang="en-US" dirty="0" smtClean="0"/>
                  <a:t>composed </a:t>
                </a:r>
                <a:r>
                  <a:rPr lang="en-US" dirty="0"/>
                  <a:t>of histograms of visual </a:t>
                </a:r>
                <a:r>
                  <a:rPr lang="en-US" dirty="0" smtClean="0"/>
                  <a:t>features, </a:t>
                </a:r>
                <a:r>
                  <a:rPr lang="en-US" dirty="0"/>
                  <a:t>computed using Bag of Words(</a:t>
                </a:r>
                <a:r>
                  <a:rPr lang="en-US" dirty="0" err="1"/>
                  <a:t>BoW</a:t>
                </a:r>
                <a:r>
                  <a:rPr lang="en-US" dirty="0"/>
                  <a:t>) </a:t>
                </a:r>
                <a:r>
                  <a:rPr lang="en-US" dirty="0" smtClean="0"/>
                  <a:t>approach.</a:t>
                </a:r>
              </a:p>
              <a:p>
                <a:pPr lvl="2" algn="just"/>
                <a:r>
                  <a:rPr lang="en-US" dirty="0" smtClean="0"/>
                  <a:t>The </a:t>
                </a:r>
                <a:r>
                  <a:rPr lang="en-US" dirty="0"/>
                  <a:t>sequences are treated as strings (</a:t>
                </a:r>
                <a:r>
                  <a:rPr lang="en-US" dirty="0" smtClean="0"/>
                  <a:t>phrases) where </a:t>
                </a:r>
                <a:r>
                  <a:rPr lang="en-US" dirty="0"/>
                  <a:t>each histogram is considered as a </a:t>
                </a:r>
                <a:r>
                  <a:rPr lang="en-US" dirty="0" smtClean="0"/>
                  <a:t>character.</a:t>
                </a:r>
              </a:p>
              <a:p>
                <a:pPr lvl="2" algn="just"/>
                <a:r>
                  <a:rPr lang="en-US" dirty="0" smtClean="0"/>
                  <a:t>String </a:t>
                </a:r>
                <a:r>
                  <a:rPr lang="en-US" dirty="0"/>
                  <a:t>kernel is based on Needleman-</a:t>
                </a:r>
                <a:r>
                  <a:rPr lang="en-US" dirty="0" err="1"/>
                  <a:t>Wunsch</a:t>
                </a:r>
                <a:r>
                  <a:rPr lang="en-US" dirty="0"/>
                  <a:t> </a:t>
                </a:r>
                <a:r>
                  <a:rPr lang="en-US" dirty="0" smtClean="0"/>
                  <a:t>edit distance which is computed as following:-</a:t>
                </a:r>
                <a:endParaRPr lang="en-US" i="1" dirty="0"/>
              </a:p>
              <a:p>
                <a:pPr marL="914400" lvl="2" indent="-256032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                            </m:t>
                      </m:r>
                    </m:oMath>
                  </m:oMathPara>
                </a14:m>
                <a:endParaRPr lang="en-IN" b="0" i="1" dirty="0" smtClean="0">
                  <a:latin typeface="Cambria Math" panose="02040503050406030204" pitchFamily="18" charset="0"/>
                </a:endParaRPr>
              </a:p>
              <a:p>
                <a:pPr marL="914400" lvl="2" indent="-256032" algn="just">
                  <a:buNone/>
                </a:pPr>
                <a:r>
                  <a:rPr lang="en-US" dirty="0" smtClean="0"/>
                  <a:t>                                 </a:t>
                </a:r>
                <a14:m>
                  <m:oMath xmlns:m="http://schemas.openxmlformats.org/officeDocument/2006/math">
                    <m:r>
                      <a:rPr lang="en-US" i="1"/>
                      <m:t>𝐾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𝑥</m:t>
                        </m:r>
                        <m:r>
                          <a:rPr lang="en-US" i="1"/>
                          <m:t>,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𝑥</m:t>
                            </m:r>
                          </m:e>
                          <m:sup>
                            <m:r>
                              <a:rPr lang="en-US" i="1"/>
                              <m:t>′</m:t>
                            </m:r>
                          </m:sup>
                        </m:sSup>
                      </m:e>
                    </m:d>
                    <m:r>
                      <a:rPr lang="en-US" i="1"/>
                      <m:t>= 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𝑒</m:t>
                        </m:r>
                      </m:e>
                      <m:sup>
                        <m:r>
                          <a:rPr lang="en-US" i="1"/>
                          <m:t>−</m:t>
                        </m:r>
                        <m:r>
                          <a:rPr lang="en-US" i="1"/>
                          <m:t>𝑑</m:t>
                        </m:r>
                        <m:r>
                          <a:rPr lang="en-US" i="1"/>
                          <m:t>(</m:t>
                        </m:r>
                        <m:r>
                          <a:rPr lang="en-US" i="1"/>
                          <m:t>𝑥</m:t>
                        </m:r>
                        <m:r>
                          <a:rPr lang="en-US" i="1"/>
                          <m:t>,</m:t>
                        </m:r>
                        <m:r>
                          <a:rPr lang="en-US" i="1"/>
                          <m:t>𝑥</m:t>
                        </m:r>
                        <m:r>
                          <a:rPr lang="en-US" i="1"/>
                          <m:t>′)</m:t>
                        </m:r>
                      </m:sup>
                    </m:sSup>
                  </m:oMath>
                </a14:m>
                <a:endParaRPr lang="en-US" dirty="0"/>
              </a:p>
              <a:p>
                <a:pPr lvl="2" algn="just"/>
                <a:endParaRPr lang="en-IN" dirty="0" smtClean="0"/>
              </a:p>
              <a:p>
                <a:r>
                  <a:rPr lang="en-IN" dirty="0"/>
                  <a:t>GMM based methods</a:t>
                </a:r>
              </a:p>
              <a:p>
                <a:r>
                  <a:rPr lang="en-IN" dirty="0"/>
                  <a:t>HMM based methods</a:t>
                </a:r>
                <a:endParaRPr lang="en-IN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859" y="1299881"/>
                <a:ext cx="11851342" cy="5201957"/>
              </a:xfrm>
              <a:blipFill rotWithShape="0">
                <a:blip r:embed="rId4"/>
                <a:stretch>
                  <a:fillRect l="-926" t="-1874" r="-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Related Work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75B515B6-62B2-496F-9C9D-996AD90F3C06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18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0659" y="1299881"/>
            <a:ext cx="3092824" cy="439270"/>
          </a:xfrm>
          <a:prstGeom prst="rect">
            <a:avLst/>
          </a:prstGeom>
          <a:noFill/>
          <a:ln w="38100"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576047" y="6169626"/>
            <a:ext cx="6347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Figure: String Kernel Approach by Ballan et al.</a:t>
            </a:r>
            <a:endParaRPr lang="en-US" dirty="0"/>
          </a:p>
        </p:txBody>
      </p:sp>
      <p:sp>
        <p:nvSpPr>
          <p:cNvPr id="24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7793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/>
          <a:lstStyle/>
          <a:p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Related Work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4C5FED8B-E50F-4DE3-88DA-1399C0582AC5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19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39163" y="1289843"/>
            <a:ext cx="11530107" cy="5021309"/>
          </a:xfrm>
        </p:spPr>
        <p:txBody>
          <a:bodyPr/>
          <a:lstStyle/>
          <a:p>
            <a:r>
              <a:rPr lang="en-IN" dirty="0" smtClean="0"/>
              <a:t>SVM based methods</a:t>
            </a:r>
          </a:p>
          <a:p>
            <a:r>
              <a:rPr lang="en-IN" dirty="0" smtClean="0"/>
              <a:t>GMM based methods</a:t>
            </a:r>
          </a:p>
          <a:p>
            <a:pPr lvl="1"/>
            <a:r>
              <a:rPr lang="en-IN" dirty="0" smtClean="0"/>
              <a:t>Method 1:</a:t>
            </a:r>
            <a:r>
              <a:rPr lang="en-US" dirty="0" smtClean="0"/>
              <a:t> Approach by Xu et al</a:t>
            </a:r>
            <a:r>
              <a:rPr lang="en-US" sz="1800" dirty="0" smtClean="0"/>
              <a:t>.[6]</a:t>
            </a:r>
            <a:endParaRPr lang="en-US" dirty="0" smtClean="0"/>
          </a:p>
          <a:p>
            <a:pPr lvl="2" algn="just"/>
            <a:r>
              <a:rPr lang="en-US" dirty="0"/>
              <a:t>They combine </a:t>
            </a:r>
            <a:r>
              <a:rPr lang="en-US" dirty="0" smtClean="0"/>
              <a:t>3 video features and 1 audio feature to </a:t>
            </a:r>
            <a:r>
              <a:rPr lang="en-US" dirty="0"/>
              <a:t>create a super vector and then apply  Principal Component Analysis(PCA) to reduce the dimensionality.</a:t>
            </a:r>
          </a:p>
          <a:p>
            <a:pPr lvl="2" algn="just"/>
            <a:r>
              <a:rPr lang="en-US" dirty="0"/>
              <a:t>They model the features for various classes using GMM and train the parameters of GMM using Expectation-Maximization Algorithm(EM).</a:t>
            </a:r>
          </a:p>
          <a:p>
            <a:pPr lvl="2"/>
            <a:endParaRPr lang="en-IN" dirty="0" smtClean="0"/>
          </a:p>
          <a:p>
            <a:r>
              <a:rPr lang="en-IN" dirty="0" smtClean="0"/>
              <a:t>HMM based methods</a:t>
            </a:r>
          </a:p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09601" y="1810869"/>
            <a:ext cx="3236258" cy="439270"/>
          </a:xfrm>
          <a:prstGeom prst="rect">
            <a:avLst/>
          </a:prstGeom>
          <a:noFill/>
          <a:ln w="38100"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8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/>
          <a:lstStyle/>
          <a:p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Related Work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4C5FED8B-E50F-4DE3-88DA-1399C0582AC5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20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39163" y="1289843"/>
            <a:ext cx="11530107" cy="5021309"/>
          </a:xfrm>
        </p:spPr>
        <p:txBody>
          <a:bodyPr/>
          <a:lstStyle/>
          <a:p>
            <a:r>
              <a:rPr lang="en-IN" dirty="0" smtClean="0"/>
              <a:t>SVM based methods</a:t>
            </a:r>
          </a:p>
          <a:p>
            <a:r>
              <a:rPr lang="en-IN" dirty="0" smtClean="0"/>
              <a:t>GMM based methods</a:t>
            </a:r>
          </a:p>
          <a:p>
            <a:r>
              <a:rPr lang="en-IN" dirty="0" smtClean="0"/>
              <a:t>HMM based methods</a:t>
            </a:r>
          </a:p>
          <a:p>
            <a:pPr lvl="1"/>
            <a:r>
              <a:rPr lang="en-IN" dirty="0" smtClean="0"/>
              <a:t>Method: ACTIVE(Activity Concept Transition in Video Events) by </a:t>
            </a:r>
            <a:r>
              <a:rPr lang="en-IN" dirty="0" err="1" smtClean="0"/>
              <a:t>Nevatia</a:t>
            </a:r>
            <a:r>
              <a:rPr lang="en-IN" dirty="0" smtClean="0"/>
              <a:t> et al</a:t>
            </a:r>
            <a:r>
              <a:rPr lang="en-IN" sz="1800" dirty="0" smtClean="0"/>
              <a:t>.[7]</a:t>
            </a:r>
            <a:endParaRPr lang="en-IN" dirty="0" smtClean="0"/>
          </a:p>
          <a:p>
            <a:pPr lvl="2"/>
            <a:r>
              <a:rPr lang="en-US" dirty="0"/>
              <a:t>Video event is defined as a sequence of activity concepts </a:t>
            </a:r>
            <a:r>
              <a:rPr lang="en-US" dirty="0" smtClean="0"/>
              <a:t>.</a:t>
            </a:r>
          </a:p>
          <a:p>
            <a:pPr lvl="2"/>
            <a:r>
              <a:rPr lang="en-US" dirty="0"/>
              <a:t>A new concept is generated with certain probabilities based on the previous concept.</a:t>
            </a:r>
          </a:p>
          <a:p>
            <a:pPr lvl="2"/>
            <a:r>
              <a:rPr lang="en-US" dirty="0"/>
              <a:t>An observation is a low level feature vector from a sub-clip and generated based on the </a:t>
            </a:r>
            <a:r>
              <a:rPr lang="en-US" dirty="0" smtClean="0"/>
              <a:t>concepts.</a:t>
            </a:r>
          </a:p>
          <a:p>
            <a:pPr lvl="2"/>
            <a:r>
              <a:rPr lang="en-US" dirty="0"/>
              <a:t>The feature vector is obtained by using Fisher Kernel over the HMM. </a:t>
            </a:r>
          </a:p>
          <a:p>
            <a:pPr lvl="2"/>
            <a:endParaRPr lang="en-US" dirty="0"/>
          </a:p>
          <a:p>
            <a:pPr lvl="2"/>
            <a:endParaRPr lang="en-IN" dirty="0" smtClean="0"/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54425" y="2321857"/>
            <a:ext cx="3236258" cy="439270"/>
          </a:xfrm>
          <a:prstGeom prst="rect">
            <a:avLst/>
          </a:prstGeom>
          <a:noFill/>
          <a:ln w="38100"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21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/>
          <a:lstStyle/>
          <a:p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  Proposed Solution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090E5F63-023D-4954-B48C-1169708AA872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21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45341" y="5836024"/>
            <a:ext cx="8175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Figure : Model of the proposed solution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470209" y="1001112"/>
            <a:ext cx="1246094" cy="113357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Video Dataset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304793" y="2634735"/>
            <a:ext cx="4473387" cy="23385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10945902" y="3285745"/>
            <a:ext cx="1237125" cy="111162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Class Labels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2779050" y="3078303"/>
            <a:ext cx="1775012" cy="14514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Video Representation using Bag of Words of models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654416" y="3078303"/>
            <a:ext cx="1775012" cy="14514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HoG</a:t>
            </a:r>
            <a:r>
              <a:rPr lang="en-US" dirty="0" smtClean="0"/>
              <a:t> Feature Extraction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151956" y="4603979"/>
            <a:ext cx="318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Feature Extraction Module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5674658" y="2634735"/>
            <a:ext cx="4473387" cy="23385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8148915" y="3078303"/>
            <a:ext cx="1775012" cy="14514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SVM Classifier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6024281" y="3078303"/>
            <a:ext cx="1775012" cy="14514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HIMK Kernel Gram Matrix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6521820" y="4603979"/>
            <a:ext cx="318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Classification Module</a:t>
            </a:r>
            <a:endParaRPr lang="en-US" dirty="0"/>
          </a:p>
        </p:txBody>
      </p:sp>
      <p:sp>
        <p:nvSpPr>
          <p:cNvPr id="7" name="Down Arrow 6"/>
          <p:cNvSpPr/>
          <p:nvPr/>
        </p:nvSpPr>
        <p:spPr>
          <a:xfrm>
            <a:off x="2001366" y="2144384"/>
            <a:ext cx="183779" cy="50005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4796108" y="3694769"/>
            <a:ext cx="896478" cy="2185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Arrow 24"/>
          <p:cNvSpPr/>
          <p:nvPr/>
        </p:nvSpPr>
        <p:spPr>
          <a:xfrm>
            <a:off x="10139067" y="3694769"/>
            <a:ext cx="815808" cy="2185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3276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>
            <a:normAutofit/>
          </a:bodyPr>
          <a:lstStyle/>
          <a:p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  </a:t>
            </a:r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Proposed Model: Feature Extraction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4B16C763-B11F-4DC0-9243-A2891AD3005C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22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7" name="Content Placeholder 2"/>
          <p:cNvSpPr>
            <a:spLocks noGrp="1"/>
          </p:cNvSpPr>
          <p:nvPr>
            <p:ph idx="1"/>
          </p:nvPr>
        </p:nvSpPr>
        <p:spPr>
          <a:xfrm>
            <a:off x="62752" y="1290918"/>
            <a:ext cx="12129247" cy="5201957"/>
          </a:xfrm>
        </p:spPr>
        <p:txBody>
          <a:bodyPr>
            <a:normAutofit/>
          </a:bodyPr>
          <a:lstStyle/>
          <a:p>
            <a:pPr algn="just"/>
            <a:r>
              <a:rPr lang="en-IN" sz="2400" dirty="0" smtClean="0"/>
              <a:t>Histogram of Oriented </a:t>
            </a:r>
            <a:r>
              <a:rPr lang="en-IN" sz="2400" dirty="0" smtClean="0"/>
              <a:t>Gradients</a:t>
            </a:r>
            <a:r>
              <a:rPr lang="en-IN" sz="1800" dirty="0" smtClean="0"/>
              <a:t>[8]</a:t>
            </a:r>
            <a:r>
              <a:rPr lang="en-IN" sz="2400" dirty="0" smtClean="0"/>
              <a:t> </a:t>
            </a:r>
            <a:r>
              <a:rPr lang="en-IN" sz="2400" dirty="0" smtClean="0"/>
              <a:t>is scale-invariant &amp; rotation-invariant within a cell. Normalization makes it illuminance-invariant.</a:t>
            </a:r>
          </a:p>
          <a:p>
            <a:pPr algn="just"/>
            <a:r>
              <a:rPr lang="en-IN" sz="2400" dirty="0" smtClean="0"/>
              <a:t>Useful for object detection.</a:t>
            </a:r>
          </a:p>
          <a:p>
            <a:pPr algn="just"/>
            <a:endParaRPr lang="en-IN" sz="2400" dirty="0" smtClean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069" y="2450960"/>
            <a:ext cx="4572000" cy="3411958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225723"/>
              </p:ext>
            </p:extLst>
          </p:nvPr>
        </p:nvGraphicFramePr>
        <p:xfrm>
          <a:off x="1125070" y="2450960"/>
          <a:ext cx="4572000" cy="34119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</a:tblGrid>
              <a:tr h="5686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5686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5686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Block B</a:t>
                      </a:r>
                      <a:endParaRPr lang="en-US" b="1" dirty="0"/>
                    </a:p>
                  </a:txBody>
                  <a:tcPr>
                    <a:noFill/>
                  </a:tcPr>
                </a:tc>
              </a:tr>
              <a:tr h="5686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5686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686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cxnSp>
        <p:nvCxnSpPr>
          <p:cNvPr id="20" name="Straight Connector 19"/>
          <p:cNvCxnSpPr/>
          <p:nvPr/>
        </p:nvCxnSpPr>
        <p:spPr>
          <a:xfrm flipV="1">
            <a:off x="5697069" y="3287255"/>
            <a:ext cx="2780177" cy="298627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5697068" y="4156939"/>
            <a:ext cx="2780178" cy="131913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63009"/>
              </p:ext>
            </p:extLst>
          </p:nvPr>
        </p:nvGraphicFramePr>
        <p:xfrm>
          <a:off x="6435529" y="3287255"/>
          <a:ext cx="2816050" cy="233978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3210"/>
                <a:gridCol w="563210"/>
                <a:gridCol w="563210"/>
                <a:gridCol w="563210"/>
                <a:gridCol w="563210"/>
              </a:tblGrid>
              <a:tr h="389964">
                <a:tc>
                  <a:txBody>
                    <a:bodyPr/>
                    <a:lstStyle/>
                    <a:p>
                      <a:r>
                        <a:rPr lang="en-IN" dirty="0" smtClean="0"/>
                        <a:t>C11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C12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C13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C14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C15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389964">
                <a:tc>
                  <a:txBody>
                    <a:bodyPr/>
                    <a:lstStyle/>
                    <a:p>
                      <a:r>
                        <a:rPr lang="en-IN" b="1" dirty="0" smtClean="0"/>
                        <a:t>.</a:t>
                      </a:r>
                      <a:endParaRPr lang="en-US" b="1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.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389964">
                <a:tc>
                  <a:txBody>
                    <a:bodyPr/>
                    <a:lstStyle/>
                    <a:p>
                      <a:r>
                        <a:rPr lang="en-IN" dirty="0" smtClean="0"/>
                        <a:t>.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.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389964">
                <a:tc>
                  <a:txBody>
                    <a:bodyPr/>
                    <a:lstStyle/>
                    <a:p>
                      <a:r>
                        <a:rPr lang="en-IN" dirty="0" smtClean="0"/>
                        <a:t>.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Cell </a:t>
                      </a:r>
                      <a:endParaRPr lang="en-US" b="1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.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389964">
                <a:tc>
                  <a:txBody>
                    <a:bodyPr/>
                    <a:lstStyle/>
                    <a:p>
                      <a:r>
                        <a:rPr lang="en-IN" dirty="0" smtClean="0"/>
                        <a:t>.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.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389964">
                <a:tc>
                  <a:txBody>
                    <a:bodyPr/>
                    <a:lstStyle/>
                    <a:p>
                      <a:r>
                        <a:rPr lang="en-IN" b="1" dirty="0" smtClean="0"/>
                        <a:t>C51</a:t>
                      </a:r>
                      <a:endParaRPr lang="en-US" b="1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i="0" dirty="0" smtClean="0"/>
                        <a:t>C52</a:t>
                      </a:r>
                      <a:endParaRPr lang="en-US" b="1" i="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C53</a:t>
                      </a:r>
                      <a:endParaRPr lang="en-US" b="1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C54</a:t>
                      </a:r>
                      <a:endParaRPr lang="en-US" b="1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C55</a:t>
                      </a:r>
                      <a:endParaRPr lang="en-US" b="1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22" name="Straight Connector 21"/>
          <p:cNvCxnSpPr/>
          <p:nvPr/>
        </p:nvCxnSpPr>
        <p:spPr>
          <a:xfrm flipV="1">
            <a:off x="4787154" y="3287253"/>
            <a:ext cx="1648377" cy="30759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787154" y="4156939"/>
            <a:ext cx="1648377" cy="134252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496670" y="5889347"/>
            <a:ext cx="7198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Figure : Image containing blocks  which contain overlapping cells</a:t>
            </a:r>
            <a:endParaRPr lang="en-US" dirty="0"/>
          </a:p>
        </p:txBody>
      </p:sp>
      <p:sp>
        <p:nvSpPr>
          <p:cNvPr id="16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5543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 Proposed Model: Feature Extraction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F9C8634B-497E-478D-A9D1-7F6EAD3EBF8D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23</a:t>
            </a:fld>
            <a:endParaRPr lang="en-US" sz="140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752" y="1290918"/>
                <a:ext cx="12129247" cy="4903975"/>
              </a:xfrm>
            </p:spPr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IN" sz="2600" dirty="0" smtClean="0"/>
                  <a:t>2 methods to extract features:-</a:t>
                </a:r>
              </a:p>
              <a:p>
                <a:pPr lvl="1" algn="just"/>
                <a:r>
                  <a:rPr lang="en-IN" sz="2600" dirty="0" smtClean="0"/>
                  <a:t>Dense </a:t>
                </a:r>
                <a:r>
                  <a:rPr lang="en-IN" sz="2600" dirty="0" err="1" smtClean="0"/>
                  <a:t>HoG</a:t>
                </a:r>
                <a:r>
                  <a:rPr lang="en-IN" sz="2600" dirty="0" smtClean="0"/>
                  <a:t> features by using overlapping blocks</a:t>
                </a:r>
              </a:p>
              <a:p>
                <a:pPr lvl="1" algn="just"/>
                <a:r>
                  <a:rPr lang="en-IN" sz="2600" dirty="0"/>
                  <a:t>Dense </a:t>
                </a:r>
                <a:r>
                  <a:rPr lang="en-IN" sz="2600" dirty="0" err="1"/>
                  <a:t>HoG</a:t>
                </a:r>
                <a:r>
                  <a:rPr lang="en-IN" sz="2600" dirty="0"/>
                  <a:t> features by using </a:t>
                </a:r>
                <a:r>
                  <a:rPr lang="en-IN" sz="2600" dirty="0" smtClean="0"/>
                  <a:t>non-overlapping </a:t>
                </a:r>
                <a:r>
                  <a:rPr lang="en-IN" sz="2600" dirty="0"/>
                  <a:t>blocks</a:t>
                </a:r>
              </a:p>
              <a:p>
                <a:pPr lvl="1" algn="just"/>
                <a:endParaRPr lang="en-IN" dirty="0" smtClean="0"/>
              </a:p>
              <a:p>
                <a:pPr marL="457200" lvl="1" indent="0" algn="just">
                  <a:buNone/>
                </a:pPr>
                <a:r>
                  <a:rPr lang="en-IN" sz="2600" b="1" dirty="0" smtClean="0"/>
                  <a:t>Method 1</a:t>
                </a:r>
                <a:r>
                  <a:rPr lang="en-IN" sz="2600" dirty="0" smtClean="0"/>
                  <a:t>: Overlapping blocks based </a:t>
                </a:r>
                <a:r>
                  <a:rPr lang="en-IN" sz="2600" dirty="0" err="1" smtClean="0"/>
                  <a:t>HoG</a:t>
                </a:r>
                <a:r>
                  <a:rPr lang="en-IN" sz="2600" dirty="0" smtClean="0"/>
                  <a:t> </a:t>
                </a:r>
                <a:r>
                  <a:rPr lang="en-IN" sz="2600" dirty="0" smtClean="0"/>
                  <a:t>algorithm </a:t>
                </a:r>
                <a:r>
                  <a:rPr lang="en-IN" sz="2600" dirty="0" smtClean="0"/>
                  <a:t>by </a:t>
                </a:r>
                <a:r>
                  <a:rPr lang="en-IN" sz="2600" dirty="0" err="1" smtClean="0"/>
                  <a:t>Dalal</a:t>
                </a:r>
                <a:r>
                  <a:rPr lang="en-IN" sz="2600" dirty="0" smtClean="0"/>
                  <a:t> et al</a:t>
                </a:r>
                <a:r>
                  <a:rPr lang="en-IN" sz="1900" dirty="0" smtClean="0"/>
                  <a:t>.[8]</a:t>
                </a:r>
                <a:r>
                  <a:rPr lang="en-IN" sz="2600" dirty="0" smtClean="0"/>
                  <a:t>-</a:t>
                </a:r>
              </a:p>
              <a:p>
                <a:pPr marL="457200" lvl="1" indent="0" algn="just">
                  <a:buNone/>
                </a:pPr>
                <a:endParaRPr lang="en-IN" dirty="0" smtClean="0"/>
              </a:p>
              <a:p>
                <a:pPr lvl="1" algn="just"/>
                <a:r>
                  <a:rPr lang="en-IN" sz="2200" dirty="0" smtClean="0"/>
                  <a:t>Feature Vector Dimension </a:t>
                </a:r>
                <a:r>
                  <a:rPr lang="en-IN" sz="2200" dirty="0" smtClean="0"/>
                  <a:t>= (no of blocks in image * no of pixels in image)</a:t>
                </a:r>
              </a:p>
              <a:p>
                <a:pPr lvl="4" algn="just"/>
                <a:r>
                  <a:rPr lang="en-IN" sz="2200" dirty="0" smtClean="0"/>
                  <a:t>Where </a:t>
                </a:r>
                <a:r>
                  <a:rPr lang="en-IN" sz="2200" dirty="0" smtClean="0"/>
                  <a:t>no. </a:t>
                </a:r>
                <a:r>
                  <a:rPr lang="en-IN" sz="2200" dirty="0" smtClean="0"/>
                  <a:t>of overlapping blocks for image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IN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200" b="0" i="1" smtClean="0">
                                <a:latin typeface="Cambria Math" panose="02040503050406030204" pitchFamily="18" charset="0"/>
                              </a:rPr>
                              <m:t>𝑛𝑜</m:t>
                            </m:r>
                            <m:r>
                              <a:rPr lang="en-IN" sz="2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sz="2200" b="0" i="1" smtClean="0">
                                <a:latin typeface="Cambria Math" panose="02040503050406030204" pitchFamily="18" charset="0"/>
                              </a:rPr>
                              <m:t>𝑜𝑓</m:t>
                            </m:r>
                            <m:r>
                              <a:rPr lang="en-IN" sz="2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sz="2200" b="0" i="1" smtClean="0">
                                <a:latin typeface="Cambria Math" panose="02040503050406030204" pitchFamily="18" charset="0"/>
                              </a:rPr>
                              <m:t>𝑟𝑜𝑤𝑠</m:t>
                            </m:r>
                            <m:r>
                              <a:rPr lang="en-IN" sz="2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∗(</m:t>
                        </m:r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𝑛𝑜</m:t>
                        </m:r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𝑐𝑜𝑙𝑠</m:t>
                        </m:r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 −1)</m:t>
                        </m:r>
                      </m:num>
                      <m:den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𝐵𝑙𝑜𝑐𝑘</m:t>
                        </m:r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𝑠𝑖𝑧𝑒</m:t>
                        </m:r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IN" sz="2200" dirty="0" smtClean="0"/>
              </a:p>
              <a:p>
                <a:pPr lvl="1" algn="just"/>
                <a:r>
                  <a:rPr lang="en-IN" sz="2200" dirty="0" smtClean="0"/>
                  <a:t>Due to the overlapping nature of the blocks in the image, the dimensionality of the local feature vector increases.</a:t>
                </a:r>
              </a:p>
              <a:p>
                <a:pPr lvl="1" algn="just"/>
                <a:r>
                  <a:rPr lang="en-IN" sz="2200" dirty="0" smtClean="0"/>
                  <a:t>This resulted in a very huge training feature vector set.</a:t>
                </a:r>
              </a:p>
              <a:p>
                <a:pPr lvl="1" algn="just"/>
                <a:r>
                  <a:rPr lang="en-IN" sz="2200" dirty="0" smtClean="0"/>
                  <a:t>This feature vector set became computationally inefficient.</a:t>
                </a:r>
              </a:p>
              <a:p>
                <a:pPr lvl="1" algn="just"/>
                <a:r>
                  <a:rPr lang="en-IN" sz="2200" dirty="0" smtClean="0"/>
                  <a:t>Also, because of such a huge dimensional data, it </a:t>
                </a:r>
                <a:r>
                  <a:rPr lang="en-IN" sz="2200" dirty="0" smtClean="0"/>
                  <a:t>is not </a:t>
                </a:r>
                <a:r>
                  <a:rPr lang="en-IN" sz="2200" dirty="0" smtClean="0"/>
                  <a:t>possible to apply statistical methods of dimensionality reduction (PCA) </a:t>
                </a:r>
                <a:endParaRPr lang="en-IN" sz="2200" dirty="0" smtClean="0"/>
              </a:p>
            </p:txBody>
          </p:sp>
        </mc:Choice>
        <mc:Fallback>
          <p:sp>
            <p:nvSpPr>
              <p:cNvPr id="9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752" y="1290918"/>
                <a:ext cx="12129247" cy="4903975"/>
              </a:xfrm>
              <a:blipFill rotWithShape="0">
                <a:blip r:embed="rId3"/>
                <a:stretch>
                  <a:fillRect l="-653" t="-2363" r="-5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1954306" y="2581835"/>
            <a:ext cx="2420471" cy="537883"/>
          </a:xfrm>
          <a:prstGeom prst="rect">
            <a:avLst/>
          </a:prstGeom>
          <a:noFill/>
          <a:ln w="28575"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6511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 Proposed Model: Feature Extraction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F9C8634B-497E-478D-A9D1-7F6EAD3EBF8D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24</a:t>
            </a:fld>
            <a:endParaRPr lang="en-US" sz="140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752" y="1290919"/>
                <a:ext cx="12129247" cy="3567952"/>
              </a:xfrm>
            </p:spPr>
            <p:txBody>
              <a:bodyPr>
                <a:normAutofit fontScale="92500" lnSpcReduction="20000"/>
              </a:bodyPr>
              <a:lstStyle/>
              <a:p>
                <a:pPr algn="just"/>
                <a:r>
                  <a:rPr lang="en-IN" sz="2600" dirty="0" smtClean="0"/>
                  <a:t>2 methods to extract features:-</a:t>
                </a:r>
              </a:p>
              <a:p>
                <a:pPr lvl="1" algn="just"/>
                <a:r>
                  <a:rPr lang="en-IN" sz="2600" dirty="0" smtClean="0"/>
                  <a:t>Dense </a:t>
                </a:r>
                <a:r>
                  <a:rPr lang="en-IN" sz="2600" dirty="0" err="1" smtClean="0"/>
                  <a:t>HoG</a:t>
                </a:r>
                <a:r>
                  <a:rPr lang="en-IN" sz="2600" dirty="0" smtClean="0"/>
                  <a:t> features by using overlapping blocks</a:t>
                </a:r>
              </a:p>
              <a:p>
                <a:pPr lvl="1" algn="just"/>
                <a:r>
                  <a:rPr lang="en-IN" sz="2600" dirty="0"/>
                  <a:t>Dense </a:t>
                </a:r>
                <a:r>
                  <a:rPr lang="en-IN" sz="2600" dirty="0" err="1"/>
                  <a:t>HoG</a:t>
                </a:r>
                <a:r>
                  <a:rPr lang="en-IN" sz="2600" dirty="0"/>
                  <a:t> features by using </a:t>
                </a:r>
                <a:r>
                  <a:rPr lang="en-IN" sz="2600" dirty="0" smtClean="0"/>
                  <a:t>non-overlapping </a:t>
                </a:r>
                <a:r>
                  <a:rPr lang="en-IN" sz="2600" dirty="0"/>
                  <a:t>blocks</a:t>
                </a:r>
              </a:p>
              <a:p>
                <a:pPr lvl="1" algn="just"/>
                <a:endParaRPr lang="en-IN" dirty="0" smtClean="0"/>
              </a:p>
              <a:p>
                <a:pPr marL="457200" lvl="1" indent="0" algn="just">
                  <a:buNone/>
                </a:pPr>
                <a:r>
                  <a:rPr lang="en-IN" sz="2600" b="1" dirty="0" smtClean="0"/>
                  <a:t>Method 2</a:t>
                </a:r>
                <a:r>
                  <a:rPr lang="en-IN" sz="2600" dirty="0" smtClean="0"/>
                  <a:t>: Non-overlapping blocks based </a:t>
                </a:r>
                <a:r>
                  <a:rPr lang="en-IN" sz="2600" dirty="0" err="1" smtClean="0"/>
                  <a:t>HoG</a:t>
                </a:r>
                <a:r>
                  <a:rPr lang="en-IN" sz="2600" dirty="0" smtClean="0"/>
                  <a:t> </a:t>
                </a:r>
                <a:r>
                  <a:rPr lang="en-IN" sz="2600" dirty="0" smtClean="0"/>
                  <a:t>algorithm </a:t>
                </a:r>
                <a:r>
                  <a:rPr lang="en-IN" sz="2600" dirty="0" smtClean="0"/>
                  <a:t>by </a:t>
                </a:r>
                <a:r>
                  <a:rPr lang="en-IN" sz="2600" dirty="0" err="1" smtClean="0"/>
                  <a:t>Dalal</a:t>
                </a:r>
                <a:r>
                  <a:rPr lang="en-IN" sz="2600" dirty="0" smtClean="0"/>
                  <a:t> et al</a:t>
                </a:r>
                <a:r>
                  <a:rPr lang="en-IN" sz="1900" dirty="0" smtClean="0"/>
                  <a:t>.[8]</a:t>
                </a:r>
                <a:r>
                  <a:rPr lang="en-IN" sz="2600" dirty="0" smtClean="0"/>
                  <a:t>-</a:t>
                </a:r>
              </a:p>
              <a:p>
                <a:pPr marL="457200" lvl="1" indent="0" algn="just">
                  <a:buNone/>
                </a:pPr>
                <a:endParaRPr lang="en-IN" dirty="0" smtClean="0"/>
              </a:p>
              <a:p>
                <a:pPr lvl="1" algn="just"/>
                <a:r>
                  <a:rPr lang="en-IN" sz="2200" dirty="0"/>
                  <a:t>Due to the overlapping nature of the blocks in the image, the dimensionality of the local feature vector </a:t>
                </a:r>
                <a:r>
                  <a:rPr lang="en-IN" sz="2200" dirty="0" smtClean="0"/>
                  <a:t>increases.</a:t>
                </a:r>
              </a:p>
              <a:p>
                <a:pPr lvl="1" algn="just"/>
                <a:endParaRPr lang="en-IN" sz="2200" dirty="0" smtClean="0"/>
              </a:p>
              <a:p>
                <a:pPr lvl="1" algn="just"/>
                <a:r>
                  <a:rPr lang="en-IN" sz="2200" dirty="0"/>
                  <a:t>We observe that dimensionality of the feature vector for each frame in the video reduces drastically  when we ignore the non-overlapping block data.</a:t>
                </a:r>
              </a:p>
              <a:p>
                <a:pPr marL="457200" lvl="1" indent="0" algn="ctr">
                  <a:buNone/>
                </a:pPr>
                <a:r>
                  <a:rPr lang="en-IN" sz="2200" dirty="0"/>
                  <a:t>[266x36] dimensional</a:t>
                </a:r>
                <a14:m>
                  <m:oMath xmlns:m="http://schemas.openxmlformats.org/officeDocument/2006/math">
                    <m:r>
                      <a:rPr lang="en-US" sz="22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sz="2200" i="1">
                        <a:ea typeface="Cambria Math" panose="02040503050406030204" pitchFamily="18" charset="0"/>
                      </a:rPr>
                      <m:t>⟶[</m:t>
                    </m:r>
                  </m:oMath>
                </a14:m>
                <a:r>
                  <a:rPr lang="en-IN" sz="2200" dirty="0"/>
                  <a:t>70x36] dimensional</a:t>
                </a:r>
              </a:p>
              <a:p>
                <a:pPr lvl="1" algn="just"/>
                <a:endParaRPr lang="en-IN" sz="2200" dirty="0" smtClean="0"/>
              </a:p>
            </p:txBody>
          </p:sp>
        </mc:Choice>
        <mc:Fallback>
          <p:sp>
            <p:nvSpPr>
              <p:cNvPr id="9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752" y="1290919"/>
                <a:ext cx="12129247" cy="3567952"/>
              </a:xfrm>
              <a:blipFill rotWithShape="0">
                <a:blip r:embed="rId3"/>
                <a:stretch>
                  <a:fillRect l="-653" t="-3932" r="-5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1949823" y="2438400"/>
            <a:ext cx="2980765" cy="537883"/>
          </a:xfrm>
          <a:prstGeom prst="rect">
            <a:avLst/>
          </a:prstGeom>
          <a:noFill/>
          <a:ln w="28575"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808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/>
          <a:lstStyle/>
          <a:p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  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 Video Representation: </a:t>
            </a:r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Bag of words model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66BFD05F-7DAA-4EAD-8314-5F87FB6BB822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25</a:t>
            </a:fld>
            <a:endParaRPr lang="en-US" sz="1400">
              <a:solidFill>
                <a:schemeClr val="bg1"/>
              </a:solidFill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466165" y="1864242"/>
          <a:ext cx="2209797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45533"/>
                <a:gridCol w="245533"/>
                <a:gridCol w="245533"/>
                <a:gridCol w="245533"/>
                <a:gridCol w="245533"/>
                <a:gridCol w="245533"/>
                <a:gridCol w="245533"/>
                <a:gridCol w="245533"/>
                <a:gridCol w="245533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470652" y="2611124"/>
          <a:ext cx="2209797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45533"/>
                <a:gridCol w="245533"/>
                <a:gridCol w="245533"/>
                <a:gridCol w="245533"/>
                <a:gridCol w="245533"/>
                <a:gridCol w="245533"/>
                <a:gridCol w="245533"/>
                <a:gridCol w="245533"/>
                <a:gridCol w="245533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/>
          </p:nvPr>
        </p:nvGraphicFramePr>
        <p:xfrm>
          <a:off x="470651" y="3271403"/>
          <a:ext cx="2209797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45533"/>
                <a:gridCol w="245533"/>
                <a:gridCol w="245533"/>
                <a:gridCol w="245533"/>
                <a:gridCol w="245533"/>
                <a:gridCol w="245533"/>
                <a:gridCol w="245533"/>
                <a:gridCol w="245533"/>
                <a:gridCol w="245533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Oval 15"/>
          <p:cNvSpPr/>
          <p:nvPr/>
        </p:nvSpPr>
        <p:spPr>
          <a:xfrm>
            <a:off x="1524001" y="3016030"/>
            <a:ext cx="45719" cy="79033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1524002" y="3157224"/>
            <a:ext cx="45719" cy="79033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/>
          </p:nvPr>
        </p:nvGraphicFramePr>
        <p:xfrm>
          <a:off x="470651" y="3633163"/>
          <a:ext cx="2209797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45533"/>
                <a:gridCol w="245533"/>
                <a:gridCol w="245533"/>
                <a:gridCol w="245533"/>
                <a:gridCol w="245533"/>
                <a:gridCol w="245533"/>
                <a:gridCol w="245533"/>
                <a:gridCol w="245533"/>
                <a:gridCol w="245533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60189" y="4167474"/>
            <a:ext cx="32810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 smtClean="0"/>
              <a:t>Training dataset represented as a set of </a:t>
            </a:r>
            <a:r>
              <a:rPr lang="en-IN" dirty="0" err="1" smtClean="0"/>
              <a:t>HoG</a:t>
            </a:r>
            <a:r>
              <a:rPr lang="en-IN" dirty="0" smtClean="0"/>
              <a:t> feature vectors taken from each frame of each training video</a:t>
            </a:r>
            <a:endParaRPr lang="en-US" dirty="0"/>
          </a:p>
        </p:txBody>
      </p:sp>
      <p:sp>
        <p:nvSpPr>
          <p:cNvPr id="4" name="Right Arrow 3"/>
          <p:cNvSpPr/>
          <p:nvPr/>
        </p:nvSpPr>
        <p:spPr>
          <a:xfrm>
            <a:off x="2886635" y="2704506"/>
            <a:ext cx="1792941" cy="623047"/>
          </a:xfrm>
          <a:prstGeom prst="rightArrow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Clustering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9576" y="1957605"/>
            <a:ext cx="2399238" cy="23992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9576" y="2646697"/>
            <a:ext cx="286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rgbClr val="0066FF"/>
                </a:solidFill>
              </a:rPr>
              <a:t>A</a:t>
            </a:r>
            <a:endParaRPr lang="en-US" dirty="0">
              <a:solidFill>
                <a:srgbClr val="0066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549153" y="2359826"/>
            <a:ext cx="286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66FF"/>
                </a:solidFill>
              </a:rPr>
              <a:t>B</a:t>
            </a:r>
            <a:endParaRPr lang="en-US" dirty="0">
              <a:solidFill>
                <a:srgbClr val="0066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149789" y="1875732"/>
            <a:ext cx="286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rgbClr val="0066FF"/>
                </a:solidFill>
              </a:rPr>
              <a:t>D</a:t>
            </a:r>
            <a:endParaRPr lang="en-US" dirty="0">
              <a:solidFill>
                <a:srgbClr val="0066FF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05718" y="3901757"/>
            <a:ext cx="286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rgbClr val="0066FF"/>
                </a:solidFill>
              </a:rPr>
              <a:t>E</a:t>
            </a:r>
            <a:endParaRPr lang="en-US" dirty="0">
              <a:solidFill>
                <a:srgbClr val="0066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24918" y="3265263"/>
            <a:ext cx="286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66FF"/>
                </a:solidFill>
              </a:rPr>
              <a:t>F</a:t>
            </a:r>
            <a:endParaRPr lang="en-US" dirty="0">
              <a:solidFill>
                <a:srgbClr val="0066FF"/>
              </a:solidFill>
            </a:endParaRPr>
          </a:p>
        </p:txBody>
      </p:sp>
      <p:sp>
        <p:nvSpPr>
          <p:cNvPr id="25" name="Right Arrow 24"/>
          <p:cNvSpPr/>
          <p:nvPr/>
        </p:nvSpPr>
        <p:spPr>
          <a:xfrm>
            <a:off x="7078814" y="2704506"/>
            <a:ext cx="2468597" cy="623047"/>
          </a:xfrm>
          <a:prstGeom prst="rightArrow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Codebook Generation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4552657" y="4360311"/>
            <a:ext cx="3481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 err="1" smtClean="0"/>
              <a:t>Codewords</a:t>
            </a:r>
            <a:r>
              <a:rPr lang="en-IN" dirty="0" smtClean="0"/>
              <a:t> generated by clustering</a:t>
            </a:r>
            <a:endParaRPr lang="en-US" dirty="0"/>
          </a:p>
        </p:txBody>
      </p:sp>
      <p:graphicFrame>
        <p:nvGraphicFramePr>
          <p:cNvPr id="57" name="Chart 56"/>
          <p:cNvGraphicFramePr/>
          <p:nvPr>
            <p:extLst/>
          </p:nvPr>
        </p:nvGraphicFramePr>
        <p:xfrm>
          <a:off x="9593417" y="1773739"/>
          <a:ext cx="1891553" cy="6258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8" name="Chart 57"/>
          <p:cNvGraphicFramePr/>
          <p:nvPr>
            <p:extLst/>
          </p:nvPr>
        </p:nvGraphicFramePr>
        <p:xfrm>
          <a:off x="9478052" y="3120215"/>
          <a:ext cx="1891553" cy="6258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1" name="Chart 60"/>
          <p:cNvGraphicFramePr/>
          <p:nvPr>
            <p:extLst/>
          </p:nvPr>
        </p:nvGraphicFramePr>
        <p:xfrm>
          <a:off x="9597906" y="2883823"/>
          <a:ext cx="1891553" cy="6258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62" name="Chart 61"/>
          <p:cNvGraphicFramePr/>
          <p:nvPr>
            <p:extLst/>
          </p:nvPr>
        </p:nvGraphicFramePr>
        <p:xfrm>
          <a:off x="9606864" y="2060398"/>
          <a:ext cx="1891553" cy="6258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63" name="Chart 62"/>
          <p:cNvGraphicFramePr/>
          <p:nvPr>
            <p:extLst/>
          </p:nvPr>
        </p:nvGraphicFramePr>
        <p:xfrm>
          <a:off x="9624793" y="3501383"/>
          <a:ext cx="1891553" cy="6258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8683260" y="4356216"/>
            <a:ext cx="3481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Generated codebook</a:t>
            </a:r>
          </a:p>
          <a:p>
            <a:pPr algn="ctr"/>
            <a:r>
              <a:rPr lang="en-IN" dirty="0" smtClean="0"/>
              <a:t>(extracted Features)</a:t>
            </a:r>
            <a:endParaRPr lang="en-US" dirty="0"/>
          </a:p>
        </p:txBody>
      </p:sp>
      <p:sp>
        <p:nvSpPr>
          <p:cNvPr id="67" name="Oval 66"/>
          <p:cNvSpPr/>
          <p:nvPr/>
        </p:nvSpPr>
        <p:spPr>
          <a:xfrm>
            <a:off x="10425950" y="2675372"/>
            <a:ext cx="45719" cy="79033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10425951" y="2816566"/>
            <a:ext cx="45719" cy="79033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/>
          <p:cNvSpPr txBox="1"/>
          <p:nvPr/>
        </p:nvSpPr>
        <p:spPr>
          <a:xfrm>
            <a:off x="2093259" y="5219978"/>
            <a:ext cx="7198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Figure: Codebook generated using </a:t>
            </a:r>
            <a:r>
              <a:rPr lang="en-IN" dirty="0" err="1" smtClean="0"/>
              <a:t>codewords</a:t>
            </a:r>
            <a:r>
              <a:rPr lang="en-IN" dirty="0" smtClean="0"/>
              <a:t> (Bag of words model)</a:t>
            </a:r>
            <a:endParaRPr lang="en-US" dirty="0"/>
          </a:p>
        </p:txBody>
      </p:sp>
      <p:sp>
        <p:nvSpPr>
          <p:cNvPr id="3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5643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7604" y="-10743"/>
            <a:ext cx="12192000" cy="1164227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>
            <a:normAutofit fontScale="90000"/>
          </a:bodyPr>
          <a:lstStyle/>
          <a:p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Histogram Matching Score based K-</a:t>
            </a:r>
            <a:r>
              <a:rPr lang="en-IN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medoid</a:t>
            </a:r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 clustering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5A7895B0-59D5-4356-A1FE-705448393F22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26</a:t>
            </a:fld>
            <a:endParaRPr lang="en-US" sz="140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753" y="1260614"/>
                <a:ext cx="12129247" cy="4903975"/>
              </a:xfrm>
            </p:spPr>
            <p:txBody>
              <a:bodyPr/>
              <a:lstStyle/>
              <a:p>
                <a:pPr algn="just"/>
                <a:r>
                  <a:rPr lang="en-IN" b="1" dirty="0" smtClean="0"/>
                  <a:t>INTUITION-</a:t>
                </a:r>
              </a:p>
              <a:p>
                <a:pPr lvl="1" algn="just"/>
                <a:r>
                  <a:rPr lang="en-IN" dirty="0"/>
                  <a:t>Features used = Histogram of Oriented Gradients(</a:t>
                </a:r>
                <a:r>
                  <a:rPr lang="en-IN" dirty="0" err="1"/>
                  <a:t>HoG</a:t>
                </a:r>
                <a:r>
                  <a:rPr lang="en-IN" dirty="0"/>
                  <a:t>).</a:t>
                </a:r>
              </a:p>
              <a:p>
                <a:pPr lvl="1" algn="just"/>
                <a:r>
                  <a:rPr lang="en-IN" dirty="0"/>
                  <a:t>For calculating similarity between Histograms, we </a:t>
                </a:r>
                <a:r>
                  <a:rPr lang="en-IN" dirty="0" smtClean="0"/>
                  <a:t>use Histogram </a:t>
                </a:r>
                <a:r>
                  <a:rPr lang="en-IN" dirty="0"/>
                  <a:t>Matching </a:t>
                </a:r>
                <a:r>
                  <a:rPr lang="en-IN" dirty="0" smtClean="0"/>
                  <a:t>Score.</a:t>
                </a:r>
              </a:p>
              <a:p>
                <a:pPr lvl="1" algn="just"/>
                <a:endParaRPr lang="en-IN" b="1" dirty="0" smtClean="0"/>
              </a:p>
              <a:p>
                <a:pPr algn="just"/>
                <a:r>
                  <a:rPr lang="en-IN" b="1" dirty="0" smtClean="0"/>
                  <a:t>HISTOGRAM MATCHING SCORE-</a:t>
                </a:r>
              </a:p>
              <a:p>
                <a:pPr algn="ctr"/>
                <a:endParaRPr lang="en-IN" b="1" dirty="0" smtClean="0"/>
              </a:p>
              <a:p>
                <a:pPr marL="457200" lvl="1" indent="0" algn="ctr">
                  <a:buNone/>
                </a:pPr>
                <a:r>
                  <a:rPr lang="en-IN" sz="2800" b="1" dirty="0" smtClean="0"/>
                  <a:t>HMS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sz="2800" b="1" i="1" dirty="0">
                            <a:solidFill>
                              <a:prstClr val="black"/>
                            </a:solidFill>
                            <a:latin typeface="Century Schoolbook" panose="02040604050505020304" pitchFamily="18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IN" sz="1800" b="1" i="1" dirty="0">
                            <a:solidFill>
                              <a:prstClr val="black"/>
                            </a:solidFill>
                            <a:latin typeface="Century Schoolbook" panose="020406040505050203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IN" sz="2800" b="1" i="1" dirty="0">
                            <a:solidFill>
                              <a:prstClr val="black"/>
                            </a:solidFill>
                            <a:latin typeface="Century Schoolbook" panose="020406040505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IN" sz="2800" b="1" i="1" dirty="0">
                            <a:solidFill>
                              <a:prstClr val="black"/>
                            </a:solidFill>
                            <a:latin typeface="Century Schoolbook" panose="02040604050505020304" pitchFamily="18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IN" sz="1800" b="1" i="1" dirty="0">
                            <a:solidFill>
                              <a:prstClr val="black"/>
                            </a:solidFill>
                            <a:latin typeface="Century Schoolbook" panose="020406040505050203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IN" sz="2800" b="1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IN" sz="2800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IN" sz="28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IN" sz="28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IN" sz="2800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800" b="1" i="1" smtClean="0">
                            <a:latin typeface="Cambria Math" panose="02040503050406030204" pitchFamily="18" charset="0"/>
                          </a:rPr>
                          <m:t>min</m:t>
                        </m:r>
                        <m:d>
                          <m:dPr>
                            <m:ctrlPr>
                              <a:rPr lang="en-IN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3200" b="1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𝒉</m:t>
                            </m:r>
                            <m:r>
                              <a:rPr lang="en-IN" sz="1800" b="1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IN" sz="1800" b="1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IN" sz="1800" b="1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3200" b="1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𝒉</m:t>
                            </m:r>
                            <m:r>
                              <a:rPr lang="en-IN" sz="1800" b="1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IN" sz="1800" b="1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nary>
                  </m:oMath>
                </a14:m>
                <a:endParaRPr lang="en-IN" sz="2800" b="1" dirty="0" smtClean="0"/>
              </a:p>
              <a:p>
                <a:pPr marL="457200" lvl="1" indent="0" algn="just">
                  <a:buNone/>
                </a:pPr>
                <a:endParaRPr lang="en-IN" dirty="0" smtClean="0"/>
              </a:p>
              <a:p>
                <a:pPr marL="457200" lvl="1" indent="0" algn="just">
                  <a:buNone/>
                </a:pPr>
                <a:r>
                  <a:rPr lang="en-IN" dirty="0" smtClean="0"/>
                  <a:t>where N= number of bins in Histograms h</a:t>
                </a:r>
                <a:r>
                  <a:rPr lang="en-IN" sz="1400" dirty="0" smtClean="0"/>
                  <a:t>1</a:t>
                </a:r>
                <a:r>
                  <a:rPr lang="en-IN" dirty="0" smtClean="0"/>
                  <a:t> and h</a:t>
                </a:r>
                <a:r>
                  <a:rPr lang="en-IN" sz="1400" dirty="0" smtClean="0"/>
                  <a:t>2.</a:t>
                </a:r>
                <a:endParaRPr lang="en-IN" dirty="0"/>
              </a:p>
            </p:txBody>
          </p:sp>
        </mc:Choice>
        <mc:Fallback>
          <p:sp>
            <p:nvSpPr>
              <p:cNvPr id="31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753" y="1260614"/>
                <a:ext cx="12129247" cy="4903975"/>
              </a:xfrm>
              <a:blipFill rotWithShape="0">
                <a:blip r:embed="rId3"/>
                <a:stretch>
                  <a:fillRect l="-905" t="-2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8475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7604" y="-10743"/>
            <a:ext cx="12192000" cy="1164227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>
            <a:normAutofit fontScale="90000"/>
          </a:bodyPr>
          <a:lstStyle/>
          <a:p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Histogram Matching Score based K-</a:t>
            </a:r>
            <a:r>
              <a:rPr lang="en-IN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medoid</a:t>
            </a:r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 clustering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F81987D6-BEBF-47FA-91EE-B0DFA3BB0EF1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27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47" name="Right Arrow 46"/>
          <p:cNvSpPr/>
          <p:nvPr/>
        </p:nvSpPr>
        <p:spPr>
          <a:xfrm>
            <a:off x="4947263" y="3546976"/>
            <a:ext cx="1324227" cy="350982"/>
          </a:xfrm>
          <a:prstGeom prst="rightArrow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Down Arrow 47"/>
          <p:cNvSpPr/>
          <p:nvPr/>
        </p:nvSpPr>
        <p:spPr>
          <a:xfrm>
            <a:off x="8598307" y="4470398"/>
            <a:ext cx="316345" cy="795958"/>
          </a:xfrm>
          <a:prstGeom prst="downArrow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6581569" y="5299225"/>
                <a:ext cx="4470400" cy="4855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 smtClean="0"/>
                  <a:t>HMS(H1,H2)=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4+3+2+4+6+1+1+6+5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=3.44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1569" y="5299225"/>
                <a:ext cx="4470400" cy="485518"/>
              </a:xfrm>
              <a:prstGeom prst="rect">
                <a:avLst/>
              </a:prstGeom>
              <a:blipFill rotWithShape="0">
                <a:blip r:embed="rId3"/>
                <a:stretch>
                  <a:fillRect l="-1228"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Picture 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" y="1316850"/>
            <a:ext cx="5413717" cy="2148663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2520" y="3705282"/>
            <a:ext cx="5438103" cy="2273685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1620" y="1970846"/>
            <a:ext cx="4529721" cy="2466683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2469066" y="5974488"/>
            <a:ext cx="7198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Figure :  Calculation of Histogram </a:t>
            </a:r>
            <a:r>
              <a:rPr lang="en-IN" smtClean="0"/>
              <a:t>Matching Score</a:t>
            </a:r>
            <a:endParaRPr lang="en-US" dirty="0"/>
          </a:p>
        </p:txBody>
      </p:sp>
      <p:sp>
        <p:nvSpPr>
          <p:cNvPr id="15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3513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" y="-10743"/>
            <a:ext cx="12138996" cy="1164227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>
            <a:normAutofit fontScale="90000"/>
          </a:bodyPr>
          <a:lstStyle/>
          <a:p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Histogram Matching Score based K-</a:t>
            </a:r>
            <a:r>
              <a:rPr lang="en-IN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medoid</a:t>
            </a:r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 clustering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1303AE8C-EC9D-44FA-AC2A-868D757786B8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28</a:t>
            </a:fld>
            <a:endParaRPr lang="en-US" sz="140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001104"/>
                  </p:ext>
                </p:extLst>
              </p:nvPr>
            </p:nvGraphicFramePr>
            <p:xfrm>
              <a:off x="25400" y="1118906"/>
              <a:ext cx="12138996" cy="6303572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2534909"/>
                    <a:gridCol w="9604087"/>
                  </a:tblGrid>
                  <a:tr h="0">
                    <a:tc gridSpan="2">
                      <a:txBody>
                        <a:bodyPr/>
                        <a:lstStyle/>
                        <a:p>
                          <a:pPr algn="just"/>
                          <a:r>
                            <a:rPr lang="en-IN" sz="2000" i="1" dirty="0" smtClean="0"/>
                            <a:t>Algorithm : Histogram Matching Score based – K-</a:t>
                          </a:r>
                          <a:r>
                            <a:rPr lang="en-IN" sz="2000" i="1" dirty="0" err="1" smtClean="0"/>
                            <a:t>medoid</a:t>
                          </a:r>
                          <a:r>
                            <a:rPr lang="en-IN" sz="2000" i="1" dirty="0" smtClean="0"/>
                            <a:t> algorithm</a:t>
                          </a:r>
                          <a:endParaRPr lang="en-US" sz="2000" i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gradFill flip="none" rotWithShape="1">
                          <a:gsLst>
                            <a:gs pos="0">
                              <a:srgbClr val="3333CC">
                                <a:shade val="30000"/>
                                <a:satMod val="115000"/>
                              </a:srgbClr>
                            </a:gs>
                            <a:gs pos="50000">
                              <a:srgbClr val="3333CC">
                                <a:shade val="67500"/>
                                <a:satMod val="115000"/>
                              </a:srgbClr>
                            </a:gs>
                            <a:gs pos="100000">
                              <a:srgbClr val="3333CC">
                                <a:shade val="100000"/>
                                <a:satMod val="115000"/>
                              </a:srgbClr>
                            </a:gs>
                          </a:gsLst>
                          <a:lin ang="18900000" scaled="1"/>
                          <a:tileRect/>
                        </a:gra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316153">
                    <a:tc>
                      <a:txBody>
                        <a:bodyPr/>
                        <a:lstStyle/>
                        <a:p>
                          <a:r>
                            <a:rPr lang="en-IN" b="1" dirty="0" smtClean="0"/>
                            <a:t>Inputs: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 smtClean="0"/>
                            <a:t>k := number of clusters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16153">
                    <a:tc>
                      <a:txBody>
                        <a:bodyPr/>
                        <a:lstStyle/>
                        <a:p>
                          <a:r>
                            <a:rPr lang="en-IN" b="1" dirty="0" smtClean="0"/>
                            <a:t>Initialize: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kumimoji="0" lang="en-IN" sz="1800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</a:rPr>
                                <m:t>{</m:t>
                              </m:r>
                              <m:r>
                                <m:rPr>
                                  <m:nor/>
                                </m:rPr>
                                <a:rPr kumimoji="0" lang="en-IN" sz="1800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kumimoji="0" lang="en-IN" sz="1200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</a:rPr>
                                <m:t>1, </m:t>
                              </m:r>
                              <m:r>
                                <m:rPr>
                                  <m:nor/>
                                </m:rPr>
                                <a:rPr kumimoji="0" lang="en-IN" sz="1800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kumimoji="0" lang="en-IN" sz="1200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</a:rPr>
                                <m:t>2 . . . </m:t>
                              </m:r>
                              <m:r>
                                <m:rPr>
                                  <m:nor/>
                                </m:rPr>
                                <a:rPr kumimoji="0" lang="en-IN" sz="2000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kumimoji="0" lang="en-IN" sz="1200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kumimoji="0" lang="en-IN" sz="1800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</a:rPr>
                                <m:t>}</m:t>
                              </m:r>
                              <m:r>
                                <a:rPr lang="en-IN" smtClean="0">
                                  <a:latin typeface="Cambria Math" panose="02040503050406030204" pitchFamily="18" charset="0"/>
                                </a:rPr>
                                <m:t>← </m:t>
                              </m:r>
                            </m:oMath>
                          </a14:m>
                          <a:r>
                            <a:rPr lang="en-US" dirty="0" smtClean="0"/>
                            <a:t>k random cluster centers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4810052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IN" sz="1800" b="1" u="none" strike="noStrike" kern="1200" cap="none" spc="0" normalizeH="0" baseline="0" noProof="0" dirty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</a:rPr>
                            <a:t>while</a:t>
                          </a:r>
                          <a:r>
                            <a:rPr kumimoji="0" lang="en-IN" sz="1800" u="none" strike="noStrike" kern="1200" cap="none" spc="0" normalizeH="0" baseline="0" noProof="0" dirty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</a:rPr>
                            <a:t> {x</a:t>
                          </a:r>
                          <a:r>
                            <a:rPr kumimoji="0" lang="en-IN" sz="1200" u="none" strike="noStrike" kern="1200" cap="none" spc="0" normalizeH="0" baseline="0" noProof="0" dirty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</a:rPr>
                            <a:t>1, </a:t>
                          </a:r>
                          <a:r>
                            <a:rPr kumimoji="0" lang="en-IN" sz="1800" u="none" strike="noStrike" kern="1200" cap="none" spc="0" normalizeH="0" baseline="0" noProof="0" dirty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</a:rPr>
                            <a:t>x</a:t>
                          </a:r>
                          <a:r>
                            <a:rPr kumimoji="0" lang="en-IN" sz="1200" u="none" strike="noStrike" kern="1200" cap="none" spc="0" normalizeH="0" baseline="0" noProof="0" dirty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</a:rPr>
                            <a:t>2 . . . </a:t>
                          </a:r>
                          <a:r>
                            <a:rPr kumimoji="0" lang="en-IN" sz="1800" u="none" strike="noStrike" kern="1200" cap="none" spc="0" normalizeH="0" baseline="0" noProof="0" dirty="0" err="1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</a:rPr>
                            <a:t>x</a:t>
                          </a:r>
                          <a:r>
                            <a:rPr kumimoji="0" lang="en-IN" sz="1200" u="none" strike="noStrike" kern="1200" cap="none" spc="0" normalizeH="0" baseline="0" noProof="0" dirty="0" err="1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</a:rPr>
                            <a:t>k</a:t>
                          </a:r>
                          <a:r>
                            <a:rPr kumimoji="0" lang="en-IN" sz="1800" u="none" strike="noStrike" kern="1200" cap="none" spc="0" normalizeH="0" baseline="0" noProof="0" dirty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</a:rPr>
                            <a:t>} not converged </a:t>
                          </a:r>
                          <a:r>
                            <a:rPr kumimoji="0" lang="en-IN" sz="1800" b="1" u="none" strike="noStrike" kern="1200" cap="none" spc="0" normalizeH="0" baseline="0" noProof="0" dirty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</a:rPr>
                            <a:t>do</a:t>
                          </a:r>
                          <a:endParaRPr lang="en-IN" b="1" dirty="0" smtClean="0"/>
                        </a:p>
                        <a:p>
                          <a:r>
                            <a:rPr lang="en-IN" dirty="0" smtClean="0"/>
                            <a:t>     </a:t>
                          </a:r>
                          <a:r>
                            <a:rPr lang="en-IN" b="1" dirty="0" smtClean="0"/>
                            <a:t>for </a:t>
                          </a:r>
                          <a:r>
                            <a:rPr lang="en-IN" dirty="0" smtClean="0"/>
                            <a:t>each data vector</a:t>
                          </a:r>
                          <a:r>
                            <a:rPr lang="en-IN" baseline="0" dirty="0" smtClean="0"/>
                            <a:t> v</a:t>
                          </a:r>
                          <a:r>
                            <a:rPr lang="en-IN" sz="1400" baseline="0" dirty="0" smtClean="0"/>
                            <a:t>i </a:t>
                          </a:r>
                          <a:r>
                            <a:rPr lang="en-IN" sz="1800" b="1" baseline="0" dirty="0" smtClean="0"/>
                            <a:t>do</a:t>
                          </a:r>
                        </a:p>
                        <a:p>
                          <a:r>
                            <a:rPr lang="en-IN" sz="1800" baseline="0" dirty="0" smtClean="0"/>
                            <a:t>          </a:t>
                          </a:r>
                          <a:r>
                            <a:rPr lang="en-IN" sz="1800" b="1" baseline="0" dirty="0" smtClean="0"/>
                            <a:t>for</a:t>
                          </a:r>
                          <a:r>
                            <a:rPr lang="en-IN" sz="1800" baseline="0" dirty="0" smtClean="0"/>
                            <a:t> each cluster centre </a:t>
                          </a:r>
                          <a:r>
                            <a:rPr lang="en-IN" sz="1800" baseline="0" dirty="0" err="1" smtClean="0"/>
                            <a:t>x</a:t>
                          </a:r>
                          <a:r>
                            <a:rPr lang="en-IN" sz="1200" baseline="0" dirty="0" err="1" smtClean="0"/>
                            <a:t>k</a:t>
                          </a:r>
                          <a:r>
                            <a:rPr lang="en-IN" sz="1800" baseline="0" dirty="0" smtClean="0"/>
                            <a:t> </a:t>
                          </a:r>
                          <a:r>
                            <a:rPr lang="en-IN" sz="1800" b="1" baseline="0" dirty="0" smtClean="0"/>
                            <a:t>do</a:t>
                          </a:r>
                        </a:p>
                        <a:p>
                          <a:r>
                            <a:rPr lang="en-IN" dirty="0" smtClean="0"/>
                            <a:t>               Calculate </a:t>
                          </a:r>
                          <a:r>
                            <a:rPr lang="en-US" sz="1800" kern="1200" dirty="0" smtClean="0"/>
                            <a:t>Histogram Matching Score between </a:t>
                          </a:r>
                          <a:r>
                            <a:rPr lang="en-IN" baseline="0" dirty="0" smtClean="0"/>
                            <a:t>v</a:t>
                          </a:r>
                          <a:r>
                            <a:rPr lang="en-IN" sz="1200" baseline="0" dirty="0" smtClean="0"/>
                            <a:t>i</a:t>
                          </a:r>
                          <a:r>
                            <a:rPr lang="en-IN" sz="1400" baseline="0" dirty="0" smtClean="0"/>
                            <a:t> </a:t>
                          </a:r>
                          <a:r>
                            <a:rPr lang="en-IN" sz="1800" baseline="0" dirty="0" smtClean="0"/>
                            <a:t>and </a:t>
                          </a:r>
                          <a:r>
                            <a:rPr lang="en-IN" sz="1800" baseline="0" dirty="0" err="1" smtClean="0"/>
                            <a:t>x</a:t>
                          </a:r>
                          <a:r>
                            <a:rPr lang="en-IN" sz="1200" baseline="0" dirty="0" err="1" smtClean="0"/>
                            <a:t>k</a:t>
                          </a:r>
                          <a:endParaRPr lang="en-IN" sz="1200" baseline="0" dirty="0" smtClean="0"/>
                        </a:p>
                        <a:p>
                          <a:r>
                            <a:rPr lang="en-IN" sz="1200" kern="1200" baseline="0" dirty="0" smtClean="0"/>
                            <a:t>                       </a:t>
                          </a:r>
                          <a:r>
                            <a:rPr lang="en-US" sz="1800" kern="1200" baseline="0" dirty="0" smtClean="0"/>
                            <a:t>A</a:t>
                          </a:r>
                          <a:r>
                            <a:rPr lang="en-US" sz="1800" kern="1200" dirty="0" smtClean="0"/>
                            <a:t>ssign </a:t>
                          </a:r>
                          <a:r>
                            <a:rPr lang="en-US" sz="1800" kern="1200" dirty="0" smtClean="0"/>
                            <a:t>index of v</a:t>
                          </a:r>
                          <a:r>
                            <a:rPr lang="en-US" sz="1400" kern="1200" dirty="0" smtClean="0"/>
                            <a:t>i </a:t>
                          </a:r>
                          <a:r>
                            <a:rPr lang="en-US" sz="1800" kern="1200" dirty="0" smtClean="0"/>
                            <a:t>as:              </a:t>
                          </a:r>
                        </a:p>
                        <a:p>
                          <a:pPr lvl="1"/>
                          <a:r>
                            <a:rPr lang="en-US" sz="1800" kern="1200" dirty="0" smtClean="0"/>
                            <a:t>   </a:t>
                          </a:r>
                          <a:r>
                            <a:rPr lang="en-US" sz="1800" kern="1200" dirty="0" smtClean="0"/>
                            <a:t>index(v</a:t>
                          </a:r>
                          <a:r>
                            <a:rPr lang="en-US" sz="1400" kern="1200" dirty="0" smtClean="0"/>
                            <a:t>i</a:t>
                          </a:r>
                          <a:r>
                            <a:rPr lang="en-US" sz="1800" kern="1200" dirty="0" smtClean="0"/>
                            <a:t>) </a:t>
                          </a:r>
                          <a14:m>
                            <m:oMath xmlns:m="http://schemas.openxmlformats.org/officeDocument/2006/math">
                              <m:r>
                                <a:rPr lang="en-IN" smtClean="0">
                                  <a:latin typeface="Cambria Math" panose="02040503050406030204" pitchFamily="18" charset="0"/>
                                </a:rPr>
                                <m:t>←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r>
                            <a:rPr lang="en-US" sz="1800" kern="1200" dirty="0" smtClean="0"/>
                            <a:t>max(Histogram Matching Score w.r.t all the cluster centers</a:t>
                          </a:r>
                          <a:r>
                            <a:rPr lang="en-US" sz="1800" kern="1200" dirty="0" smtClean="0"/>
                            <a:t>)</a:t>
                          </a:r>
                        </a:p>
                        <a:p>
                          <a:r>
                            <a:rPr lang="en-IN" sz="1800" baseline="0" dirty="0" smtClean="0"/>
                            <a:t>     </a:t>
                          </a:r>
                          <a:r>
                            <a:rPr lang="en-IN" sz="1800" b="1" baseline="0" dirty="0" smtClean="0"/>
                            <a:t>for</a:t>
                          </a:r>
                          <a:r>
                            <a:rPr lang="en-IN" sz="1800" baseline="0" dirty="0" smtClean="0"/>
                            <a:t> each cluster k </a:t>
                          </a:r>
                          <a:r>
                            <a:rPr lang="en-IN" sz="1800" b="1" baseline="0" dirty="0" smtClean="0"/>
                            <a:t>do</a:t>
                          </a:r>
                        </a:p>
                        <a:p>
                          <a:r>
                            <a:rPr lang="en-IN" dirty="0" smtClean="0"/>
                            <a:t>               </a:t>
                          </a:r>
                          <a:r>
                            <a:rPr lang="en-US" sz="1800" kern="1200" dirty="0" smtClean="0"/>
                            <a:t>New cluster center </a:t>
                          </a:r>
                          <a:r>
                            <a:rPr kumimoji="0" lang="en-IN" sz="1800" u="none" strike="noStrike" kern="1200" cap="none" spc="0" normalizeH="0" baseline="0" noProof="0" dirty="0" err="1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</a:rPr>
                            <a:t>x</a:t>
                          </a:r>
                          <a:r>
                            <a:rPr kumimoji="0" lang="en-IN" sz="1400" u="none" strike="noStrike" kern="1200" cap="none" spc="0" normalizeH="0" baseline="0" noProof="0" dirty="0" err="1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</a:rPr>
                            <a:t>new</a:t>
                          </a:r>
                          <a:r>
                            <a:rPr lang="en-US" sz="1800" kern="1200" dirty="0" smtClean="0"/>
                            <a:t> = </a:t>
                          </a:r>
                          <a:r>
                            <a:rPr lang="en-US" sz="1800" kern="1200" dirty="0" err="1" smtClean="0"/>
                            <a:t>medoid</a:t>
                          </a:r>
                          <a:r>
                            <a:rPr lang="en-US" sz="1800" kern="1200" dirty="0" smtClean="0"/>
                            <a:t> of all the Histogram Scores in the cluster</a:t>
                          </a:r>
                          <a:r>
                            <a:rPr lang="en-IN" dirty="0" smtClean="0"/>
                            <a:t>     </a:t>
                          </a:r>
                        </a:p>
                        <a:p>
                          <a:r>
                            <a:rPr lang="en-IN" dirty="0" smtClean="0"/>
                            <a:t>      </a:t>
                          </a:r>
                          <a:r>
                            <a:rPr lang="en-IN" b="1" dirty="0" smtClean="0"/>
                            <a:t>if</a:t>
                          </a:r>
                          <a:r>
                            <a:rPr lang="en-IN" dirty="0" smtClean="0"/>
                            <a:t> ( </a:t>
                          </a:r>
                          <a:r>
                            <a:rPr lang="en-IN" dirty="0" err="1" smtClean="0"/>
                            <a:t>x</a:t>
                          </a:r>
                          <a:r>
                            <a:rPr lang="en-IN" sz="1400" dirty="0" err="1" smtClean="0"/>
                            <a:t>new</a:t>
                          </a:r>
                          <a:r>
                            <a:rPr lang="en-IN" dirty="0" smtClean="0"/>
                            <a:t> ==</a:t>
                          </a:r>
                          <a:r>
                            <a:rPr lang="en-IN" baseline="0" dirty="0" smtClean="0"/>
                            <a:t> x ) </a:t>
                          </a:r>
                          <a:r>
                            <a:rPr lang="en-IN" b="1" baseline="0" dirty="0" smtClean="0"/>
                            <a:t>then</a:t>
                          </a:r>
                        </a:p>
                        <a:p>
                          <a:r>
                            <a:rPr lang="en-IN" baseline="0" dirty="0" smtClean="0"/>
                            <a:t>           return converged</a:t>
                          </a:r>
                        </a:p>
                        <a:p>
                          <a:r>
                            <a:rPr lang="en-IN" baseline="0" dirty="0" smtClean="0"/>
                            <a:t>      </a:t>
                          </a:r>
                          <a:r>
                            <a:rPr lang="en-IN" b="1" baseline="0" dirty="0" smtClean="0"/>
                            <a:t>else</a:t>
                          </a:r>
                        </a:p>
                        <a:p>
                          <a:r>
                            <a:rPr lang="en-IN" dirty="0" smtClean="0"/>
                            <a:t>           x = </a:t>
                          </a:r>
                          <a:r>
                            <a:rPr kumimoji="0" lang="en-IN" sz="1800" u="none" strike="noStrike" kern="1200" cap="none" spc="0" normalizeH="0" baseline="0" noProof="0" dirty="0" err="1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</a:rPr>
                            <a:t>x</a:t>
                          </a:r>
                          <a:r>
                            <a:rPr kumimoji="0" lang="en-IN" sz="1400" u="none" strike="noStrike" kern="1200" cap="none" spc="0" normalizeH="0" baseline="0" noProof="0" dirty="0" err="1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</a:rPr>
                            <a:t>new</a:t>
                          </a:r>
                          <a:endParaRPr kumimoji="0" lang="en-IN" sz="1400" u="none" strike="noStrike" kern="1200" cap="none" spc="0" normalizeH="0" baseline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</a:endParaRPr>
                        </a:p>
                        <a:p>
                          <a:r>
                            <a:rPr kumimoji="0" lang="en-IN" sz="1800" u="none" strike="noStrike" kern="1200" cap="none" spc="0" normalizeH="0" baseline="0" noProof="0" dirty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</a:rPr>
                            <a:t>           return not converged</a:t>
                          </a:r>
                        </a:p>
                        <a:p>
                          <a:r>
                            <a:rPr kumimoji="0" lang="en-IN" sz="1800" b="1" u="none" strike="noStrike" kern="1200" cap="none" spc="0" normalizeH="0" baseline="0" noProof="0" dirty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</a:rPr>
                            <a:t>end</a:t>
                          </a:r>
                          <a:endParaRPr lang="en-US" b="1" dirty="0"/>
                        </a:p>
                      </a:txBody>
                      <a:tcPr/>
                    </a:tc>
                  </a:tr>
                  <a:tr h="316153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001104"/>
                  </p:ext>
                </p:extLst>
              </p:nvPr>
            </p:nvGraphicFramePr>
            <p:xfrm>
              <a:off x="25400" y="1118906"/>
              <a:ext cx="12138996" cy="6303572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2534909"/>
                    <a:gridCol w="9604087"/>
                  </a:tblGrid>
                  <a:tr h="396240">
                    <a:tc gridSpan="2">
                      <a:txBody>
                        <a:bodyPr/>
                        <a:lstStyle/>
                        <a:p>
                          <a:pPr algn="just"/>
                          <a:r>
                            <a:rPr lang="en-IN" sz="2000" i="1" dirty="0" smtClean="0"/>
                            <a:t>Algorithm : Histogram Matching Score based – K-</a:t>
                          </a:r>
                          <a:r>
                            <a:rPr lang="en-IN" sz="2000" i="1" dirty="0" err="1" smtClean="0"/>
                            <a:t>medoid</a:t>
                          </a:r>
                          <a:r>
                            <a:rPr lang="en-IN" sz="2000" i="1" dirty="0" smtClean="0"/>
                            <a:t> algorithm</a:t>
                          </a:r>
                          <a:endParaRPr lang="en-US" sz="2000" i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gradFill flip="none" rotWithShape="1">
                          <a:gsLst>
                            <a:gs pos="0">
                              <a:srgbClr val="3333CC">
                                <a:shade val="30000"/>
                                <a:satMod val="115000"/>
                              </a:srgbClr>
                            </a:gs>
                            <a:gs pos="50000">
                              <a:srgbClr val="3333CC">
                                <a:shade val="67500"/>
                                <a:satMod val="115000"/>
                              </a:srgbClr>
                            </a:gs>
                            <a:gs pos="100000">
                              <a:srgbClr val="3333CC">
                                <a:shade val="100000"/>
                                <a:satMod val="115000"/>
                              </a:srgbClr>
                            </a:gs>
                          </a:gsLst>
                          <a:lin ang="18900000" scaled="1"/>
                          <a:tileRect/>
                        </a:gra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IN" b="1" dirty="0" smtClean="0"/>
                            <a:t>Inputs: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 smtClean="0"/>
                            <a:t>k := number of clusters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IN" b="1" dirty="0" smtClean="0"/>
                            <a:t>Initialize: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6459" t="-216667" r="-63" b="-1418333"/>
                          </a:stretch>
                        </a:blipFill>
                      </a:tcPr>
                    </a:tc>
                  </a:tr>
                  <a:tr h="4810052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6459" t="-24051" r="-63" b="-7722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228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/>
          <a:lstStyle/>
          <a:p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  SVM Classifier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7F683B84-A103-408D-BDAD-81434E88FBBC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29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2752" y="1290918"/>
            <a:ext cx="12129247" cy="4903975"/>
          </a:xfrm>
        </p:spPr>
        <p:txBody>
          <a:bodyPr/>
          <a:lstStyle/>
          <a:p>
            <a:pPr algn="just"/>
            <a:r>
              <a:rPr lang="en-IN" dirty="0" smtClean="0"/>
              <a:t>SVM is a discriminative classifier with the following properties:-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 smtClean="0"/>
              <a:t>It is a </a:t>
            </a:r>
            <a:r>
              <a:rPr lang="en-US" b="1" dirty="0" smtClean="0"/>
              <a:t>binary </a:t>
            </a:r>
            <a:r>
              <a:rPr lang="en-US" b="1" dirty="0"/>
              <a:t>classifier</a:t>
            </a:r>
            <a:r>
              <a:rPr lang="en-US" dirty="0"/>
              <a:t>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 smtClean="0"/>
              <a:t>It constructs an </a:t>
            </a:r>
            <a:r>
              <a:rPr lang="en-US" b="1" dirty="0" smtClean="0"/>
              <a:t>optimum hyperplane </a:t>
            </a:r>
            <a:r>
              <a:rPr lang="en-US" dirty="0" smtClean="0"/>
              <a:t>to divide the data</a:t>
            </a:r>
            <a:r>
              <a:rPr lang="en-US" dirty="0" smtClean="0"/>
              <a:t>.</a:t>
            </a:r>
            <a:r>
              <a:rPr lang="en-US" sz="1600" dirty="0" smtClean="0"/>
              <a:t>[9]</a:t>
            </a:r>
            <a:endParaRPr lang="en-IN" dirty="0" smtClean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925" y="2578774"/>
            <a:ext cx="4351397" cy="3421677"/>
          </a:xfrm>
          <a:prstGeom prst="rect">
            <a:avLst/>
          </a:prstGeom>
        </p:spPr>
      </p:pic>
      <p:cxnSp>
        <p:nvCxnSpPr>
          <p:cNvPr id="15" name="Straight Arrow Connector 14"/>
          <p:cNvCxnSpPr/>
          <p:nvPr/>
        </p:nvCxnSpPr>
        <p:spPr>
          <a:xfrm flipV="1">
            <a:off x="2949389" y="3334872"/>
            <a:ext cx="1613647" cy="11134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63036" y="2918013"/>
            <a:ext cx="1353671" cy="83371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Maximum Margin Hyperplane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0" y="5806998"/>
            <a:ext cx="5628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Figure  : Maximum Margin  Hyperplane for  Linearly </a:t>
            </a:r>
            <a:r>
              <a:rPr lang="en-US" dirty="0" smtClean="0"/>
              <a:t>Separable Data</a:t>
            </a:r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935" y="2475780"/>
            <a:ext cx="4312023" cy="333121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84257" y="5781814"/>
            <a:ext cx="5628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Figure  : Soft Margin  Hyperplane for  Non Linearly Separable Data &amp; Overlapping </a:t>
            </a:r>
            <a:r>
              <a:rPr lang="en-US" dirty="0" smtClean="0"/>
              <a:t>Data</a:t>
            </a:r>
            <a:r>
              <a:rPr lang="en-US" sz="1400" dirty="0" smtClean="0"/>
              <a:t>[10]</a:t>
            </a:r>
            <a:endParaRPr lang="en-US" dirty="0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3136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/>
          <a:lstStyle/>
          <a:p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  Kernel based methods for SVM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1FEABD03-6B9B-4768-BC55-B908D376A476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30</a:t>
            </a:fld>
            <a:endParaRPr lang="en-US" sz="1400">
              <a:solidFill>
                <a:schemeClr val="bg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090" y="2752164"/>
            <a:ext cx="6659819" cy="2914373"/>
          </a:xfrm>
          <a:prstGeom prst="rect">
            <a:avLst/>
          </a:prstGeom>
        </p:spPr>
      </p:pic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2752" y="1290918"/>
            <a:ext cx="12129247" cy="4903975"/>
          </a:xfrm>
        </p:spPr>
        <p:txBody>
          <a:bodyPr/>
          <a:lstStyle/>
          <a:p>
            <a:pPr algn="just"/>
            <a:r>
              <a:rPr lang="en-US" dirty="0"/>
              <a:t>Kernel method was proposed to handle the issues for </a:t>
            </a:r>
            <a:r>
              <a:rPr lang="en-US" b="1" dirty="0"/>
              <a:t>non-linearly separable data &amp; overlapping data</a:t>
            </a:r>
            <a:r>
              <a:rPr lang="en-US" dirty="0"/>
              <a:t>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dirty="0"/>
              <a:t>Nonlinear transformation of data to a higher dimensional feature space induced by a Mercer </a:t>
            </a:r>
            <a:r>
              <a:rPr lang="en-US" dirty="0" smtClean="0"/>
              <a:t>kernel.</a:t>
            </a:r>
            <a:endParaRPr lang="en-US" dirty="0"/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dirty="0"/>
              <a:t>Construction of optimal linear solutions in the kernel feature </a:t>
            </a:r>
            <a:r>
              <a:rPr lang="en-US" dirty="0" smtClean="0"/>
              <a:t>space.</a:t>
            </a:r>
            <a:endParaRPr lang="en-US" dirty="0"/>
          </a:p>
          <a:p>
            <a:pPr algn="just"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 algn="just">
              <a:buNone/>
            </a:pPr>
            <a:endParaRPr lang="en-IN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2783541" y="5825561"/>
            <a:ext cx="7198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Figure: Illustration of Kernel method  for non-linearly </a:t>
            </a:r>
            <a:r>
              <a:rPr lang="en-IN" dirty="0" smtClean="0"/>
              <a:t>separable </a:t>
            </a:r>
            <a:r>
              <a:rPr lang="en-IN" dirty="0" smtClean="0"/>
              <a:t>data</a:t>
            </a:r>
            <a:endParaRPr lang="en-US" dirty="0"/>
          </a:p>
        </p:txBody>
      </p:sp>
      <p:sp>
        <p:nvSpPr>
          <p:cNvPr id="16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3710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/>
          <a:lstStyle/>
          <a:p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  Sequence Kernel/Dynamic Kernel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0826EE1F-F195-408F-B83B-F1CF307FF889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31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2752" y="1290918"/>
            <a:ext cx="12129247" cy="5118847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IN" dirty="0" smtClean="0"/>
              <a:t>Videos are a sequence of frames. To capture the motion information, we model a video as a </a:t>
            </a:r>
            <a:r>
              <a:rPr lang="en-IN" b="1" dirty="0" smtClean="0"/>
              <a:t>sequence of feature vectors</a:t>
            </a:r>
            <a:r>
              <a:rPr lang="en-IN" dirty="0" smtClean="0"/>
              <a:t>.</a:t>
            </a:r>
          </a:p>
          <a:p>
            <a:pPr algn="just"/>
            <a:endParaRPr lang="en-IN" dirty="0" smtClean="0"/>
          </a:p>
          <a:p>
            <a:pPr algn="just"/>
            <a:endParaRPr lang="en-IN" dirty="0"/>
          </a:p>
          <a:p>
            <a:pPr algn="just"/>
            <a:endParaRPr lang="en-IN" dirty="0" smtClean="0"/>
          </a:p>
          <a:p>
            <a:pPr algn="just"/>
            <a:endParaRPr lang="en-IN" dirty="0" smtClean="0"/>
          </a:p>
          <a:p>
            <a:pPr algn="just"/>
            <a:endParaRPr lang="en-IN" dirty="0"/>
          </a:p>
          <a:p>
            <a:pPr algn="just"/>
            <a:endParaRPr lang="en-IN" dirty="0" smtClean="0"/>
          </a:p>
          <a:p>
            <a:pPr algn="just"/>
            <a:endParaRPr lang="en-IN" dirty="0" smtClean="0"/>
          </a:p>
          <a:p>
            <a:pPr algn="just"/>
            <a:r>
              <a:rPr lang="en-IN" dirty="0" smtClean="0"/>
              <a:t>ADVANTAGE- No need to convert varying length representations into a fixed length representation.</a:t>
            </a:r>
          </a:p>
          <a:p>
            <a:pPr algn="just"/>
            <a:r>
              <a:rPr lang="en-IN" dirty="0" smtClean="0"/>
              <a:t>Examples  of Sequence Kernels:</a:t>
            </a:r>
          </a:p>
          <a:p>
            <a:pPr lvl="1" algn="just"/>
            <a:r>
              <a:rPr lang="en-IN" sz="2900" dirty="0" smtClean="0"/>
              <a:t>Fisher Kernel</a:t>
            </a:r>
          </a:p>
          <a:p>
            <a:pPr lvl="1" algn="just"/>
            <a:r>
              <a:rPr lang="en-IN" sz="2900" dirty="0" err="1" smtClean="0"/>
              <a:t>Probablistic</a:t>
            </a:r>
            <a:r>
              <a:rPr lang="en-IN" sz="2900" dirty="0" smtClean="0"/>
              <a:t> Sequence Kernel</a:t>
            </a:r>
          </a:p>
          <a:p>
            <a:pPr lvl="1" algn="just"/>
            <a:r>
              <a:rPr lang="en-IN" sz="2900" dirty="0" smtClean="0"/>
              <a:t>GMM </a:t>
            </a:r>
            <a:r>
              <a:rPr lang="en-IN" sz="2900" dirty="0" err="1" smtClean="0"/>
              <a:t>Supervector</a:t>
            </a:r>
            <a:r>
              <a:rPr lang="en-IN" sz="2900" dirty="0" smtClean="0"/>
              <a:t> kernel</a:t>
            </a:r>
          </a:p>
          <a:p>
            <a:pPr lvl="1" algn="just"/>
            <a:r>
              <a:rPr lang="en-IN" sz="2900" dirty="0" smtClean="0"/>
              <a:t>CIGMM-IMK[11]</a:t>
            </a:r>
          </a:p>
          <a:p>
            <a:pPr lvl="1" algn="just"/>
            <a:r>
              <a:rPr lang="en-IN" sz="2900" dirty="0" smtClean="0"/>
              <a:t>HIMK[12]</a:t>
            </a:r>
            <a:endParaRPr lang="en-IN" sz="2900" dirty="0" smtClean="0"/>
          </a:p>
          <a:p>
            <a:pPr lvl="1" algn="just"/>
            <a:endParaRPr lang="en-IN" dirty="0"/>
          </a:p>
          <a:p>
            <a:pPr lvl="1" algn="just"/>
            <a:endParaRPr lang="en-IN" dirty="0" smtClean="0"/>
          </a:p>
          <a:p>
            <a:pPr lvl="4" algn="just"/>
            <a:endParaRPr lang="en-IN" dirty="0" smtClean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380497"/>
              </p:ext>
            </p:extLst>
          </p:nvPr>
        </p:nvGraphicFramePr>
        <p:xfrm>
          <a:off x="751255" y="2016217"/>
          <a:ext cx="4845064" cy="36576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692152"/>
                <a:gridCol w="692152"/>
                <a:gridCol w="692152"/>
                <a:gridCol w="692152"/>
                <a:gridCol w="692152"/>
                <a:gridCol w="692152"/>
                <a:gridCol w="692152"/>
              </a:tblGrid>
              <a:tr h="293991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F</a:t>
                      </a:r>
                      <a:r>
                        <a:rPr lang="en-IN" sz="1200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F</a:t>
                      </a:r>
                      <a:r>
                        <a:rPr lang="en-IN" sz="1200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……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F</a:t>
                      </a:r>
                      <a:r>
                        <a:rPr lang="en-IN" sz="1200" dirty="0" smtClean="0"/>
                        <a:t>t</a:t>
                      </a:r>
                      <a:r>
                        <a:rPr lang="en-IN" sz="900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…….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………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F</a:t>
                      </a:r>
                      <a:r>
                        <a:rPr lang="en-IN" sz="1100" dirty="0" smtClean="0"/>
                        <a:t>T</a:t>
                      </a:r>
                      <a:r>
                        <a:rPr lang="en-IN" sz="900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9156675"/>
              </p:ext>
            </p:extLst>
          </p:nvPr>
        </p:nvGraphicFramePr>
        <p:xfrm>
          <a:off x="751255" y="2922147"/>
          <a:ext cx="6670899" cy="378541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741211"/>
                <a:gridCol w="741211"/>
                <a:gridCol w="741211"/>
                <a:gridCol w="741211"/>
                <a:gridCol w="741211"/>
                <a:gridCol w="741211"/>
                <a:gridCol w="741211"/>
                <a:gridCol w="741211"/>
                <a:gridCol w="741211"/>
              </a:tblGrid>
              <a:tr h="378541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F</a:t>
                      </a:r>
                      <a:r>
                        <a:rPr lang="en-IN" sz="1200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F</a:t>
                      </a:r>
                      <a:r>
                        <a:rPr lang="en-IN" sz="1200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……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F</a:t>
                      </a:r>
                      <a:r>
                        <a:rPr lang="en-IN" sz="1200" dirty="0" smtClean="0"/>
                        <a:t>t</a:t>
                      </a:r>
                      <a:r>
                        <a:rPr lang="en-IN" sz="900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…….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……..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…….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………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F</a:t>
                      </a:r>
                      <a:r>
                        <a:rPr lang="en-IN" sz="1100" dirty="0" smtClean="0"/>
                        <a:t>T</a:t>
                      </a:r>
                      <a:r>
                        <a:rPr lang="en-IN" sz="900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353951" y="2321370"/>
            <a:ext cx="3639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Feature vector of size T</a:t>
            </a:r>
            <a:r>
              <a:rPr lang="en-IN" sz="1400" dirty="0" smtClean="0"/>
              <a:t>1 </a:t>
            </a:r>
            <a:r>
              <a:rPr lang="en-IN" dirty="0" smtClean="0"/>
              <a:t>(x</a:t>
            </a:r>
            <a:r>
              <a:rPr lang="en-IN" sz="1400" dirty="0" smtClean="0"/>
              <a:t>i</a:t>
            </a:r>
            <a:r>
              <a:rPr lang="en-IN" dirty="0" smtClean="0"/>
              <a:t>)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493226" y="3225116"/>
            <a:ext cx="318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Feature vector </a:t>
            </a:r>
            <a:r>
              <a:rPr lang="en-IN" dirty="0"/>
              <a:t>of size </a:t>
            </a:r>
            <a:r>
              <a:rPr lang="en-IN" dirty="0" smtClean="0"/>
              <a:t>T</a:t>
            </a:r>
            <a:r>
              <a:rPr lang="en-IN" sz="1400" dirty="0" smtClean="0"/>
              <a:t>2 </a:t>
            </a:r>
            <a:r>
              <a:rPr lang="en-IN" dirty="0"/>
              <a:t>(</a:t>
            </a:r>
            <a:r>
              <a:rPr lang="en-IN" dirty="0" err="1" smtClean="0"/>
              <a:t>x</a:t>
            </a:r>
            <a:r>
              <a:rPr lang="en-IN" sz="1400" dirty="0" err="1" smtClean="0"/>
              <a:t>j</a:t>
            </a:r>
            <a:r>
              <a:rPr lang="en-IN" dirty="0" smtClean="0"/>
              <a:t>)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277033" y="3598670"/>
            <a:ext cx="7198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Figure: Feature </a:t>
            </a:r>
            <a:r>
              <a:rPr lang="en-IN" dirty="0" smtClean="0"/>
              <a:t>vector of 2 examples with different lengths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085727" y="2199097"/>
            <a:ext cx="196775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K(</a:t>
            </a:r>
            <a:r>
              <a:rPr lang="en-IN" dirty="0" err="1" smtClean="0"/>
              <a:t>x</a:t>
            </a:r>
            <a:r>
              <a:rPr lang="en-IN" sz="1400" dirty="0" err="1" smtClean="0"/>
              <a:t>i</a:t>
            </a:r>
            <a:r>
              <a:rPr lang="en-IN" dirty="0" err="1" smtClean="0"/>
              <a:t>,x</a:t>
            </a:r>
            <a:r>
              <a:rPr lang="en-IN" sz="1400" dirty="0" err="1" smtClean="0"/>
              <a:t>j</a:t>
            </a:r>
            <a:r>
              <a:rPr lang="en-IN" dirty="0" smtClean="0"/>
              <a:t>)</a:t>
            </a:r>
          </a:p>
          <a:p>
            <a:r>
              <a:rPr lang="en-IN" dirty="0" smtClean="0"/>
              <a:t>SEQUENCE KERNEL</a:t>
            </a:r>
            <a:endParaRPr lang="en-US" dirty="0"/>
          </a:p>
        </p:txBody>
      </p:sp>
      <p:cxnSp>
        <p:nvCxnSpPr>
          <p:cNvPr id="25" name="Elbow Connector 24"/>
          <p:cNvCxnSpPr/>
          <p:nvPr/>
        </p:nvCxnSpPr>
        <p:spPr>
          <a:xfrm>
            <a:off x="5596318" y="2199097"/>
            <a:ext cx="3475964" cy="306939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/>
          <p:cNvCxnSpPr/>
          <p:nvPr/>
        </p:nvCxnSpPr>
        <p:spPr>
          <a:xfrm flipV="1">
            <a:off x="7422154" y="2679959"/>
            <a:ext cx="1663573" cy="427317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557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>
            <a:normAutofit/>
          </a:bodyPr>
          <a:lstStyle/>
          <a:p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Intermediate Matching Kernel(IMK)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BDEFE609-C27E-4714-87BE-30DB1BD88B26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32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2752" y="1290918"/>
            <a:ext cx="11994777" cy="4903975"/>
          </a:xfrm>
        </p:spPr>
        <p:txBody>
          <a:bodyPr>
            <a:normAutofit/>
          </a:bodyPr>
          <a:lstStyle/>
          <a:p>
            <a:pPr algn="just"/>
            <a:r>
              <a:rPr lang="en-IN" sz="2400" dirty="0" smtClean="0"/>
              <a:t>Intermediate Matching Kernel makes use of </a:t>
            </a:r>
            <a:r>
              <a:rPr lang="en-IN" sz="2400" b="1" dirty="0" smtClean="0"/>
              <a:t>virtual feature vectors</a:t>
            </a:r>
            <a:r>
              <a:rPr lang="en-IN" sz="2400" dirty="0" smtClean="0"/>
              <a:t> to match 2 varying length representations.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073521"/>
              </p:ext>
            </p:extLst>
          </p:nvPr>
        </p:nvGraphicFramePr>
        <p:xfrm>
          <a:off x="773454" y="2345577"/>
          <a:ext cx="2729255" cy="36576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545851"/>
                <a:gridCol w="545851"/>
                <a:gridCol w="545851"/>
                <a:gridCol w="545851"/>
                <a:gridCol w="545851"/>
              </a:tblGrid>
              <a:tr h="293991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X</a:t>
                      </a:r>
                      <a:r>
                        <a:rPr lang="en-IN" sz="1200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X</a:t>
                      </a:r>
                      <a:r>
                        <a:rPr lang="en-IN" sz="1200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err="1" smtClean="0"/>
                        <a:t>X</a:t>
                      </a:r>
                      <a:r>
                        <a:rPr lang="en-IN" sz="1100" dirty="0" err="1" smtClean="0"/>
                        <a:t>m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248765"/>
              </p:ext>
            </p:extLst>
          </p:nvPr>
        </p:nvGraphicFramePr>
        <p:xfrm>
          <a:off x="6710084" y="2330824"/>
          <a:ext cx="5188477" cy="371548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741211"/>
                <a:gridCol w="706588"/>
                <a:gridCol w="775834"/>
                <a:gridCol w="741211"/>
                <a:gridCol w="741211"/>
                <a:gridCol w="741211"/>
                <a:gridCol w="741211"/>
              </a:tblGrid>
              <a:tr h="371548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Y</a:t>
                      </a:r>
                      <a:r>
                        <a:rPr lang="en-IN" sz="1200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Y</a:t>
                      </a:r>
                      <a:r>
                        <a:rPr lang="en-IN" sz="1200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err="1" smtClean="0"/>
                        <a:t>Y</a:t>
                      </a:r>
                      <a:r>
                        <a:rPr lang="en-IN" sz="1100" dirty="0" err="1" smtClean="0"/>
                        <a:t>n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283628"/>
              </p:ext>
            </p:extLst>
          </p:nvPr>
        </p:nvGraphicFramePr>
        <p:xfrm>
          <a:off x="2429437" y="5072061"/>
          <a:ext cx="7960657" cy="36576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115465"/>
                <a:gridCol w="1115465"/>
                <a:gridCol w="1115465"/>
                <a:gridCol w="1115465"/>
                <a:gridCol w="1115465"/>
                <a:gridCol w="1115465"/>
                <a:gridCol w="1267867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K(X</a:t>
                      </a:r>
                      <a:r>
                        <a:rPr lang="en-IN" sz="1200" dirty="0" smtClean="0"/>
                        <a:t>1*,</a:t>
                      </a:r>
                      <a:r>
                        <a:rPr lang="en-IN" sz="1800" dirty="0" smtClean="0"/>
                        <a:t> Y</a:t>
                      </a:r>
                      <a:r>
                        <a:rPr lang="en-IN" sz="1200" dirty="0" smtClean="0"/>
                        <a:t>1*)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K(X</a:t>
                      </a:r>
                      <a:r>
                        <a:rPr kumimoji="0" lang="en-IN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2*,</a:t>
                      </a: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Y</a:t>
                      </a:r>
                      <a:r>
                        <a:rPr kumimoji="0" lang="en-IN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2*)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…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…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K(X</a:t>
                      </a:r>
                      <a:r>
                        <a:rPr kumimoji="0" lang="en-IN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Q*,</a:t>
                      </a: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Y</a:t>
                      </a:r>
                      <a:r>
                        <a:rPr kumimoji="0" lang="en-IN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Q*)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53605"/>
              </p:ext>
            </p:extLst>
          </p:nvPr>
        </p:nvGraphicFramePr>
        <p:xfrm>
          <a:off x="349624" y="3529722"/>
          <a:ext cx="3576916" cy="36576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510988"/>
                <a:gridCol w="510988"/>
                <a:gridCol w="510988"/>
                <a:gridCol w="510988"/>
                <a:gridCol w="510988"/>
                <a:gridCol w="510988"/>
                <a:gridCol w="510988"/>
              </a:tblGrid>
              <a:tr h="293991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X</a:t>
                      </a:r>
                      <a:r>
                        <a:rPr lang="en-IN" sz="1200" dirty="0" smtClean="0"/>
                        <a:t>1*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X</a:t>
                      </a:r>
                      <a:r>
                        <a:rPr lang="en-IN" sz="1200" dirty="0" smtClean="0"/>
                        <a:t>2*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…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…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X</a:t>
                      </a:r>
                      <a:r>
                        <a:rPr lang="en-IN" sz="1100" dirty="0" smtClean="0"/>
                        <a:t>Q*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739187"/>
              </p:ext>
            </p:extLst>
          </p:nvPr>
        </p:nvGraphicFramePr>
        <p:xfrm>
          <a:off x="7515864" y="3529722"/>
          <a:ext cx="3576916" cy="36576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10988"/>
                <a:gridCol w="510988"/>
                <a:gridCol w="510988"/>
                <a:gridCol w="510988"/>
                <a:gridCol w="510988"/>
                <a:gridCol w="510988"/>
                <a:gridCol w="510988"/>
              </a:tblGrid>
              <a:tr h="293991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Y</a:t>
                      </a:r>
                      <a:r>
                        <a:rPr lang="en-IN" sz="1200" dirty="0" smtClean="0"/>
                        <a:t>1*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Y</a:t>
                      </a:r>
                      <a:r>
                        <a:rPr lang="en-IN" sz="1200" dirty="0" smtClean="0"/>
                        <a:t>2*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…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…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Y</a:t>
                      </a:r>
                      <a:r>
                        <a:rPr lang="en-IN" sz="1100" dirty="0" smtClean="0"/>
                        <a:t>Q*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Down Arrow 7"/>
          <p:cNvSpPr/>
          <p:nvPr/>
        </p:nvSpPr>
        <p:spPr>
          <a:xfrm>
            <a:off x="2070847" y="2711337"/>
            <a:ext cx="138953" cy="809420"/>
          </a:xfrm>
          <a:prstGeom prst="down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/>
          <p:cNvSpPr/>
          <p:nvPr/>
        </p:nvSpPr>
        <p:spPr>
          <a:xfrm>
            <a:off x="9224682" y="2711337"/>
            <a:ext cx="125359" cy="809420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627529" y="3895482"/>
            <a:ext cx="2259106" cy="1176579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3164540" y="3886517"/>
            <a:ext cx="4643721" cy="1158341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3727074" y="3895482"/>
            <a:ext cx="5883095" cy="1149376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9716705" y="3886517"/>
            <a:ext cx="1121024" cy="1185544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1138518" y="3877552"/>
            <a:ext cx="3065927" cy="1194509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4310981" y="3886517"/>
            <a:ext cx="3963443" cy="1185544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398494" y="5974552"/>
            <a:ext cx="9439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Figure: Matching using virtual feature vectors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349624" y="2931381"/>
            <a:ext cx="3576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Mapping to virtual feature vector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7515864" y="2907728"/>
            <a:ext cx="3576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Mapping to virtual feature vector</a:t>
            </a:r>
            <a:endParaRPr lang="en-US" dirty="0"/>
          </a:p>
        </p:txBody>
      </p:sp>
      <p:sp>
        <p:nvSpPr>
          <p:cNvPr id="4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3329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>
            <a:normAutofit fontScale="90000"/>
          </a:bodyPr>
          <a:lstStyle/>
          <a:p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  </a:t>
            </a:r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HMM-based Intermediate Matching Kernel(HIMK)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BDEFE609-C27E-4714-87BE-30DB1BD88B26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33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2752" y="1290918"/>
            <a:ext cx="11994777" cy="4903975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/>
              <a:t>In its core, it u</a:t>
            </a:r>
            <a:r>
              <a:rPr lang="en-IN" sz="2400" dirty="0" err="1" smtClean="0"/>
              <a:t>ses</a:t>
            </a:r>
            <a:r>
              <a:rPr lang="en-IN" sz="2400" dirty="0" smtClean="0"/>
              <a:t> an HMM that is an apt model for representing sequential information.</a:t>
            </a:r>
          </a:p>
          <a:p>
            <a:pPr algn="just"/>
            <a:r>
              <a:rPr lang="en-IN" sz="2400" dirty="0" smtClean="0"/>
              <a:t>Intermediate Matching Kernel makes use of </a:t>
            </a:r>
            <a:r>
              <a:rPr lang="en-IN" sz="2400" b="1" dirty="0" smtClean="0"/>
              <a:t>virtual feature vectors</a:t>
            </a:r>
            <a:r>
              <a:rPr lang="en-IN" sz="2400" dirty="0" smtClean="0"/>
              <a:t> to match 2 varying length representations.</a:t>
            </a:r>
          </a:p>
          <a:p>
            <a:pPr algn="just"/>
            <a:r>
              <a:rPr lang="en-IN" sz="2400" dirty="0" smtClean="0"/>
              <a:t>Proposed by </a:t>
            </a:r>
            <a:r>
              <a:rPr lang="en-IN" sz="2400" dirty="0" err="1" smtClean="0"/>
              <a:t>Dileep</a:t>
            </a:r>
            <a:r>
              <a:rPr lang="en-IN" sz="2400" dirty="0" smtClean="0"/>
              <a:t> et al</a:t>
            </a:r>
            <a:r>
              <a:rPr lang="en-IN" sz="1800" dirty="0" smtClean="0"/>
              <a:t>.[12]</a:t>
            </a:r>
            <a:r>
              <a:rPr lang="en-IN" sz="2400" dirty="0" smtClean="0"/>
              <a:t>, HIMK for speech is calculated as sum of base kernels of all the components of all the GMMs that are present at each state of the HMM.</a:t>
            </a:r>
            <a:endParaRPr lang="en-IN" sz="2400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1702" y="3292569"/>
            <a:ext cx="6791325" cy="2705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61702" y="5997669"/>
            <a:ext cx="6900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Figure: HMM based IMK calculation for speech signals </a:t>
            </a:r>
            <a:r>
              <a:rPr lang="en-US" sz="1400" dirty="0" smtClean="0"/>
              <a:t>[12]</a:t>
            </a:r>
            <a:endParaRPr lang="en-US" sz="1400" dirty="0"/>
          </a:p>
        </p:txBody>
      </p:sp>
      <p:sp>
        <p:nvSpPr>
          <p:cNvPr id="15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7738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Title 1"/><p:cNvSpPr><a:spLocks noGrp="1"/></p:cNvSpPr><p:nvPr><p:ph type="title"/></p:nvPr></p:nvSpPr><p:spPr><a:xfrm><a:off x="0" y="0"/><a:ext cx="12192000" cy="932329"/></a:xfrm><a:gradFill flip="none" rotWithShape="1"><a:gsLst><a:gs pos="0"><a:srgbClr val="3333CC"><a:shade val="30000"/><a:satMod val="115000"/></a:srgbClr></a:gs><a:gs pos="46000"><a:srgbClr val="141487"/></a:gs><a:gs pos="79000"><a:srgbClr val="3333CC"><a:shade val="67500"/><a:satMod val="115000"/></a:srgbClr></a:gs></a:gsLst><a:lin ang="10800000" scaled="1"/><a:tileRect/></a:gradFill></p:spPr><p:txBody><a:bodyPr><a:normAutofit fontScale="90000"/></a:bodyPr><a:lstStyle/><a:p><a:r><a:rPr lang="en-IN" dirty="0" smtClean="0"><a:solidFill><a:schemeClr val="bg1"/></a:solidFill><a:effectLst><a:outerShdw blurRad="38100" dist="38100" dir="2700000" algn="tl"><a:srgbClr val="000000"><a:alpha val="43137"/></a:srgbClr></a:outerShdw></a:effectLst><a:latin typeface="Georgia" panose="02040502050405020303" pitchFamily="18" charset="0"/><a:cs typeface="Arial" panose="020B0604020202020204" pitchFamily="34" charset="0"/></a:rPr><a:t>  </a:t></a:r><a:r><a:rPr lang="en-IN" dirty="0" smtClean="0"><a:solidFill><a:schemeClr val="bg1"/></a:solidFill><a:effectLst><a:outerShdw blurRad="38100" dist="38100" dir="2700000" algn="tl"><a:srgbClr val="000000"><a:alpha val="43137"/></a:srgbClr></a:outerShdw></a:effectLst><a:latin typeface="Georgia" panose="02040502050405020303" pitchFamily="18" charset="0"/><a:cs typeface="Arial" panose="020B0604020202020204" pitchFamily="34" charset="0"/></a:rPr><a:t>HMM-based Intermediate Matching Kernel(HIMK)</a:t></a:r><a:endParaRPr lang="en-US" dirty="0"><a:solidFill><a:schemeClr val="bg1"/></a:solidFill><a:effectLst><a:outerShdw blurRad="38100" dist="38100" dir="2700000" algn="tl"><a:srgbClr val="000000"><a:alpha val="43137"/></a:srgbClr></a:outerShdw></a:effectLst><a:latin typeface="Georgia" panose="02040502050405020303" pitchFamily="18" charset="0"/><a:cs typeface="Arial" panose="020B0604020202020204" pitchFamily="34" charset="0"/></a:endParaRPr></a:p></p:txBody></p:sp><p:sp><p:nvSpPr><p:cNvPr id="11" name="Rectangle 10"/><p:cNvSpPr/><p:nvPr/></p:nvSpPr><p:spPr><a:xfrm><a:off x="0" y="6492875"/><a:ext cx="12192000" cy="365125"/></a:xfrm><a:prstGeom prst="rect"><a:avLst/></a:prstGeom><a:solidFill><a:srgbClr val="3333CC"/></a:solidFill></p:spPr><p:style><a:lnRef idx="2"><a:schemeClr val="accent1"><a:shade val="50000"/></a:schemeClr></a:lnRef><a:fillRef idx="1"><a:schemeClr val="accent1"/></a:fillRef><a:effectRef idx="0"><a:schemeClr val="accent1"/></a:effectRef><a:fontRef idx="minor"><a:schemeClr val="lt1"/></a:fontRef></p:style><p:txBody><a:bodyPr rtlCol="0" anchor="ctr"/><a:lstStyle/><a:p><a:pPr algn="ctr"/><a:endParaRPr lang="en-US"/></a:p></p:txBody></p:sp><p:sp><p:nvSpPr><p:cNvPr id="12" name="Date Placeholder 11"/><p:cNvSpPr><a:spLocks noGrp="1"/></p:cNvSpPr><p:nvPr><p:ph type="dt" sz="half" idx="10"/></p:nvPr></p:nvSpPr><p:spPr><a:xfrm><a:off x="838200" y="6492875"/><a:ext cx="2743200" cy="365125"/></a:xfrm></p:spPr><p:txBody><a:bodyPr/><a:lstStyle/><a:p><a:fld id="{BDEFE609-C27E-4714-87BE-30DB1BD88B26}" type="datetime4"><a:rPr lang="en-US" sz="1400" smtClean="0"><a:solidFill><a:schemeClr val="bg1"/></a:solidFill></a:rPr><a:t>July 8, 2016</a:t></a:fld><a:endParaRPr lang="en-US" sz="1400" dirty="0"><a:solidFill><a:schemeClr val="bg1"/></a:solidFill></a:endParaRPr></a:p></p:txBody></p:sp><p:sp><p:nvSpPr><p:cNvPr id="13" name="Footer Placeholder 12"/><p:cNvSpPr><a:spLocks noGrp="1"/></p:cNvSpPr><p:nvPr><p:ph type="ftr" sz="quarter" idx="11"/></p:nvPr></p:nvSpPr><p:spPr><a:xfrm><a:off x="4038600" y="6492875"/><a:ext cx="4114800" cy="365125"/></a:xfrm></p:spPr><p:txBody><a:bodyPr/><a:lstStyle/><a:p><a:r><a:rPr lang="en-US" sz="1400" smtClean="0"><a:solidFill><a:schemeClr val="bg1"/></a:solidFill></a:rPr><a:t>Human Activity Recognition using HIMK by representing videos as sets of feature vectors</a:t></a:r><a:endParaRPr lang="en-US" sz="1400"><a:solidFill><a:schemeClr val="bg1"/></a:solidFill></a:endParaRPr></a:p></p:txBody></p:sp><p:sp><p:nvSpPr><p:cNvPr id="14" name="Slide Number Placeholder 13"/><p:cNvSpPr><a:spLocks noGrp="1"/></p:cNvSpPr><p:nvPr><p:ph type="sldNum" sz="quarter" idx="12"/></p:nvPr></p:nvSpPr><p:spPr><a:xfrm><a:off x="8610600" y="6492875"/><a:ext cx="2743200" cy="365125"/></a:xfrm></p:spPr><p:txBody><a:bodyPr/><a:lstStyle/><a:p><a:fld id="{946C6125-2373-41E2-A762-824518743ED3}" type="slidenum"><a:rPr lang="en-US" sz="1400" smtClean="0"><a:solidFill><a:schemeClr val="bg1"/></a:solidFill></a:rPr><a:t>34</a:t></a:fld><a:endParaRPr lang="en-US" sz="1400"><a:solidFill><a:schemeClr val="bg1"/></a:solidFill></a:endParaRPr></a:p></p:txBody></p:sp><mc:AlternateContent xmlns:mc="http://schemas.openxmlformats.org/markup-compatibility/2006"><mc:Choice xmlns:a14="http://schemas.microsoft.com/office/drawing/2010/main" Requires="a14"><p:sp><p:nvSpPr><p:cNvPr id="9" name="Content Placeholder 2"/><p:cNvSpPr><a:spLocks noGrp="1"/></p:cNvSpPr><p:nvPr><p:ph idx="1"/></p:nvPr></p:nvSpPr><p:spPr><a:xfrm><a:off x="62752" y="1290918"/><a:ext cx="11994777" cy="4903975"/></a:xfrm></p:spPr><p:txBody><a:bodyPr><a:normAutofit fontScale="92500" lnSpcReduction="20000"/></a:bodyPr><a:lstStyle/><a:p><a:r><a:rPr lang="en-IN" sz="2400" dirty="0" smtClean="0"/><a:t>For 2 feature vectors </a:t></a:r><a:r><a:rPr lang="en-IN" sz="2400" dirty="0" err="1" smtClean="0"/><a:t>X</a:t></a:r><a:r><a:rPr lang="en-IN" sz="1800" dirty="0" err="1" smtClean="0"/><a:t>m</a:t></a:r><a:r><a:rPr lang="en-IN" sz="2400" dirty="0" smtClean="0"/><a:t> and </a:t></a:r><a:r><a:rPr lang="en-IN" sz="2400" dirty="0" err="1" smtClean="0"/><a:t>X</a:t></a:r><a:r><a:rPr lang="en-IN" sz="1800" dirty="0" err="1" smtClean="0"/><a:t>n</a:t></a:r><a:r><a:rPr lang="en-IN" sz="2400" dirty="0" smtClean="0"/><a:t>, the HIMK is calculated as below:</a:t></a:r></a:p><a:p><a:pPr marL="0" indent="0" algn="r"><a:buNone/></a:pPr><a14:m><m:oMath xmlns:m="http://schemas.openxmlformats.org/officeDocument/2006/math"><m:sSub><m:sSubPr><m:ctrlPr><a:rPr lang="en-IN" sz="2400" i="1" smtClean="0"><a:latin typeface="Cambria Math" panose="02040503050406030204" pitchFamily="18" charset="0"/></a:rPr></m:ctrlPr></m:sSubPr><m:e><m:r><a:rPr lang="en-US" sz="2400" b="0" i="1" smtClean="0"><a:latin typeface="Cambria Math" panose="02040503050406030204" pitchFamily="18" charset="0"/></a:rPr><m:t>𝐾</m:t></m:r></m:e><m:sub><m:r><a:rPr lang="en-US" sz="2400" b="0" i="1" smtClean="0"><a:latin typeface="Cambria Math" panose="02040503050406030204" pitchFamily="18" charset="0"/></a:rPr><m:t>𝐻𝐼𝑀𝐾</m:t></m:r></m:sub></m:sSub><m:r><a:rPr lang="en-US" sz="2400" b="0" i="0" smtClean="0"><a:latin typeface="Cambria Math" panose="02040503050406030204" pitchFamily="18" charset="0"/></a:rPr><m:t>(</m:t></m:r><m:sSub><m:sSubPr><m:ctrlPr><a:rPr lang="en-US" sz="2400" b="0" i="1" smtClean="0"><a:latin typeface="Cambria Math" panose="02040503050406030204" pitchFamily="18" charset="0"/></a:rPr></m:ctrlPr></m:sSubPr><m:e><m:r><a:rPr lang="en-US" sz="2400" b="1" i="1" smtClean="0"><a:latin typeface="Cambria Math" panose="02040503050406030204" pitchFamily="18" charset="0"/></a:rPr><m:t>𝑿</m:t></m:r></m:e><m:sub><m:r><a:rPr lang="en-US" sz="2400" b="0" i="1" smtClean="0"><a:latin typeface="Cambria Math" panose="02040503050406030204" pitchFamily="18" charset="0"/></a:rPr><m:t>𝑚</m:t></m:r></m:sub></m:sSub><m:r><a:rPr lang="en-US" sz="2400" b="0" i="1" smtClean="0"><a:latin typeface="Cambria Math" panose="02040503050406030204" pitchFamily="18" charset="0"/></a:rPr><m:t>,</m:t></m:r><m:sSub><m:sSubPr><m:ctrlPr><a:rPr lang="en-US" sz="2400" b="0" i="1" smtClean="0"><a:latin typeface="Cambria Math" panose="02040503050406030204" pitchFamily="18" charset="0"/></a:rPr></m:ctrlPr></m:sSubPr><m:e><m:r><a:rPr lang="en-US" sz="2400" b="1" i="1" smtClean="0"><a:latin typeface="Cambria Math" panose="02040503050406030204" pitchFamily="18" charset="0"/></a:rPr><m:t>𝑿</m:t></m:r></m:e><m:sub><m:r><a:rPr lang="en-US" sz="2400" b="0" i="1" smtClean="0"><a:latin typeface="Cambria Math" panose="02040503050406030204" pitchFamily="18" charset="0"/></a:rPr><m:t>𝑛</m:t></m:r></m:sub></m:sSub><m:r><a:rPr lang="en-US" sz="2400" b="0" i="0" smtClean="0"><a:latin typeface="Cambria Math" panose="02040503050406030204" pitchFamily="18" charset="0"/></a:rPr><m:t>)</m:t></m:r></m:oMath></a14:m><a:r><a:rPr lang="en-IN" sz="2400" dirty="0" smtClean="0"/><a:t>=</a:t></a:r><a14:m><m:oMath xmlns:m="http://schemas.openxmlformats.org/officeDocument/2006/math"><m:nary><m:naryPr><m:chr m:val="∑"/><m:ctrlPr><a:rPr lang="en-IN" sz="2400" i="1" smtClean="0"><a:latin typeface="Cambria Math" panose="02040503050406030204" pitchFamily="18" charset="0"/></a:rPr></m:ctrlPr></m:naryPr><m:sub><m:r><m:rPr><m:brk m:alnAt="23"/></m:rPr><a:rPr lang="en-US" sz="2400" b="0" i="1" smtClean="0"><a:latin typeface="Cambria Math" panose="02040503050406030204" pitchFamily="18" charset="0"/></a:rPr><m:t>𝑖</m:t></m:r><m:r><a:rPr lang="en-US" sz="2400" b="0" i="1" smtClean="0"><a:latin typeface="Cambria Math" panose="02040503050406030204" pitchFamily="18" charset="0"/></a:rPr><m:t>=1</m:t></m:r></m:sub><m:sup><m:r><a:rPr lang="en-US" sz="2400" b="0" i="1" smtClean="0"><a:latin typeface="Cambria Math" panose="02040503050406030204" pitchFamily="18" charset="0"/></a:rPr><m:t>𝑁</m:t></m:r></m:sup><m:e><m:nary><m:naryPr><m:chr m:val="∑"/><m:ctrlPr><a:rPr lang="en-IN" sz="2400" i="1" smtClean="0"><a:latin typeface="Cambria Math" panose="02040503050406030204" pitchFamily="18" charset="0"/></a:rPr></m:ctrlPr></m:naryPr><m:sub><m:r><m:rPr><m:brk m:alnAt="23"/></m:rPr><a:rPr lang="en-US" sz="2400" b="0" i="1" smtClean="0"><a:latin typeface="Cambria Math" panose="02040503050406030204" pitchFamily="18" charset="0"/></a:rPr><m:t>𝑞</m:t></m:r><m:r><a:rPr lang="en-US" sz="2400" b="0" i="1" smtClean="0"><a:latin typeface="Cambria Math" panose="02040503050406030204" pitchFamily="18" charset="0"/></a:rPr><m:t>=1</m:t></m:r></m:sub><m:sup><m:sSub><m:sSubPr><m:ctrlPr><a:rPr lang="en-IN" sz="2400" i="1" smtClean="0"><a:latin typeface="Cambria Math" panose="02040503050406030204" pitchFamily="18" charset="0"/></a:rPr></m:ctrlPr></m:sSubPr><m:e><m:r><a:rPr lang="en-US" sz="2400" b="0" i="1" smtClean="0"><a:latin typeface="Cambria Math" panose="02040503050406030204" pitchFamily="18" charset="0"/></a:rPr><m:t>𝑄</m:t></m:r></m:e><m:sub><m:r><a:rPr lang="en-US" sz="2400" b="0" i="1" smtClean="0"><a:latin typeface="Cambria Math" panose="02040503050406030204" pitchFamily="18" charset="0"/></a:rPr><m:t>𝑖</m:t></m:r></m:sub></m:sSub></m:sup><m:e><m:r><a:rPr lang="en-US" sz="2400" b="0" i="1" smtClean="0"><a:latin typeface="Cambria Math" panose="02040503050406030204" pitchFamily="18" charset="0"/></a:rPr><m:t>𝑘</m:t></m:r></m:e></m:nary></m:e></m:nary><m:r><a:rPr lang="en-US" sz="2400" b="0" i="1" smtClean="0"><a:latin typeface="Cambria Math" panose="02040503050406030204" pitchFamily="18" charset="0"/></a:rPr><m:t>(,</m:t></m:r><m:sSubSup><m:sSubSupPr><m:ctrlPr><a:rPr lang="en-US" sz="2400" i="1"><a:latin typeface="Cambria Math" panose="02040503050406030204" pitchFamily="18" charset="0"/></a:rPr></m:ctrlPr></m:sSubSupPr><m:e><m:r><a:rPr lang="en-US" sz="2400" i="1"><a:latin typeface="Cambria Math" panose="02040503050406030204" pitchFamily="18" charset="0"/></a:rPr><m:t>𝑥</m:t></m:r></m:e><m:sub><m:r><a:rPr lang="en-US" sz="2400" b="0" i="1" smtClean="0"><a:latin typeface="Cambria Math" panose="02040503050406030204" pitchFamily="18" charset="0"/></a:rPr><m:t>𝑛</m:t></m:r><m:r><a:rPr lang="en-US" sz="2400" i="1"><a:latin typeface="Cambria Math" panose="02040503050406030204" pitchFamily="18" charset="0"/></a:rPr><m:t>𝑖𝑞</m:t></m:r></m:sub><m:sup><m:r><a:rPr lang="en-US" sz="2400" i="1"><a:latin typeface="Cambria Math" panose="02040503050406030204" pitchFamily="18" charset="0"/></a:rPr><m:t>∗</m:t></m:r></m:sup></m:sSubSup><m:r><a:rPr lang="en-US" sz="2400" b="0" i="1" smtClean="0"><a:latin typeface="Cambria Math" panose="02040503050406030204" pitchFamily="18" charset="0"/></a:rPr><m:t>)</m:t></m:r></m:oMath></a14:m><a:r><a:rPr lang="en-IN" sz="2400" dirty="0" smtClean="0"/><a:t>						</a:t></a:r><a:r><a:rPr lang="en-IN" sz="1700" dirty="0" smtClean="0"/><a:t>[12]</a:t></a:r></a:p><a:p><a:r><a:rPr lang="en-IN" sz="2400" dirty="0" smtClean="0"/><a:t>where,</a:t></a:r></a:p><a:p><a:pPr marL="0" indent="0" algn="r"><a:buNone/></a:pPr><a14:m><m:oMath xmlns:m="http://schemas.openxmlformats.org/officeDocument/2006/math"><m:sSubSup><m:sSubSupPr><m:ctrlPr><a:rPr lang="en-US" sz="2400" i="1"><a:latin typeface="Cambria Math" panose="02040503050406030204" pitchFamily="18" charset="0"/></a:rPr></m:ctrlPr></m:sSubSupPr><m:e><m:r><a:rPr lang="en-US" sz="2400" i="1"><a:latin typeface="Cambria Math" panose="02040503050406030204" pitchFamily="18" charset="0"/></a:rPr><m:t> </m:t></m:r><m:r><a:rPr lang="en-US" sz="2400" i="1"><a:latin typeface="Cambria Math" panose="02040503050406030204" pitchFamily="18" charset="0"/></a:rPr><m:t>𝑥</m:t></m:r></m:e><m:sub><m:r><a:rPr lang="en-US" sz="2400" b="0" i="1" smtClean="0"><a:latin typeface="Cambria Math" panose="02040503050406030204" pitchFamily="18" charset="0"/></a:rPr><m:t>𝑚</m:t></m:r><m:r><a:rPr lang="en-US" sz="2400" i="1"><a:latin typeface="Cambria Math" panose="02040503050406030204" pitchFamily="18" charset="0"/></a:rPr><m:t>𝑖𝑞</m:t></m:r></m:sub><m:sup><m:r><a:rPr lang="en-US" sz="2400" i="1"><a:latin typeface="Cambria Math" panose="02040503050406030204" pitchFamily="18" charset="0"/></a:rPr><m:t>∗</m:t></m:r></m:sup></m:sSubSup></m:oMath></a14:m><a:r><a:rPr lang="en-IN" sz="2400" dirty="0"/><a:t>=</a:t></a:r><a14:m><m:oMath xmlns:m="http://schemas.openxmlformats.org/officeDocument/2006/math"><m:func><m:funcPr><m:ctrlPr><a:rPr lang="en-IN" sz="2400" i="1" dirty="0"><a:latin typeface="Cambria Math" panose="02040503050406030204" pitchFamily="18" charset="0"/></a:rPr></m:ctrlPr></m:funcPr><m:fName><m:limLow><m:limLowPr><m:ctrlPr><a:rPr lang="en-IN" sz="2400" i="1" dirty="0"><a:latin typeface="Cambria Math" panose="02040503050406030204" pitchFamily="18" charset="0"/></a:rPr></m:ctrlPr></m:limLowPr><m:e><m:r><m:rPr><m:sty m:val="p"/></m:rPr><a:rPr lang="en-US" sz="2400" dirty="0"><a:latin typeface="Cambria Math" panose="02040503050406030204" pitchFamily="18" charset="0"/></a:rPr><m:t>arg</m:t></m:r><m:r><m:rPr><m:sty m:val="p"/></m:rPr><a:rPr lang="en-IN" sz="2400" dirty="0"><a:latin typeface="Cambria Math" panose="02040503050406030204" pitchFamily="18" charset="0"/></a:rPr><m:t>max</m:t></m:r></m:e><m:lim><m:sSub><m:sSubPr><m:ctrlPr><a:rPr lang="en-IN" sz="2400" i="1" dirty="0"><a:latin typeface="Cambria Math" panose="02040503050406030204" pitchFamily="18" charset="0"/></a:rPr></m:ctrlPr></m:sSubPr><m:e><m:r><a:rPr lang="en-US" sz="2400" i="1" dirty="0"><a:latin typeface="Cambria Math" panose="02040503050406030204" pitchFamily="18" charset="0"/></a:rPr><m:t>𝑥</m:t></m:r></m:e><m:sub><m:r><a:rPr lang="en-US" sz="2400" i="1" dirty="0"><a:latin typeface="Cambria Math" panose="02040503050406030204" pitchFamily="18" charset="0"/></a:rPr><m:t>𝑡</m:t></m:r></m:sub></m:sSub><m:r><a:rPr lang="en-IN" sz="2400" i="1" dirty="0"><a:latin typeface="Cambria Math" panose="02040503050406030204" pitchFamily="18" charset="0"/><a:ea typeface="Cambria Math" panose="02040503050406030204" pitchFamily="18" charset="0"/></a:rPr><m:t>𝜖</m:t></m:r><m:sSub><m:sSubPr><m:ctrlPr><a:rPr lang="en-US" sz="2400" i="1"><a:latin typeface="Cambria Math" panose="02040503050406030204" pitchFamily="18" charset="0"/></a:rPr></m:ctrlPr></m:sSubPr><m:e><m:r><a:rPr lang="en-US" sz="2400" b="1" i="1"><a:latin typeface="Cambria Math" panose="02040503050406030204" pitchFamily="18" charset="0"/></a:rPr><m:t>𝑿</m:t></m:r></m:e><m:sub><m:r><a:rPr lang="en-US" sz="2400" b="0" i="1" smtClean="0"><a:latin typeface="Cambria Math" panose="02040503050406030204" pitchFamily="18" charset="0"/></a:rPr><m:t>𝑚</m:t></m:r></m:sub></m:sSub></m:lim></m:limLow></m:fName><m:e><m:sSub><m:sSubPr><m:ctrlPr><a:rPr lang="en-US" sz="2400" i="1"><a:latin typeface="Cambria Math" panose="02040503050406030204" pitchFamily="18" charset="0"/></a:rPr></m:ctrlPr></m:sSubPr><m:e><m:r><a:rPr lang="en-US" sz="2400" i="1"><a:latin typeface="Cambria Math" panose="02040503050406030204" pitchFamily="18" charset="0"/></a:rPr><m:t>𝑅</m:t></m:r></m:e><m:sub><m:r><a:rPr lang="en-US" sz="2400" i="1"><a:latin typeface="Cambria Math" panose="02040503050406030204" pitchFamily="18" charset="0"/></a:rPr><m:t>𝑖𝑞</m:t></m:r></m:sub></m:sSub><m:r><a:rPr lang="en-US" sz="2400" i="1"><a:latin typeface="Cambria Math" panose="02040503050406030204" pitchFamily="18" charset="0"/></a:rPr><m:t>(</m:t></m:r><m:sSub><m:sSubPr><m:ctrlPr><a:rPr lang="en-US" sz="2400" i="1"><a:latin typeface="Cambria Math" panose="02040503050406030204" pitchFamily="18" charset="0"/></a:rPr></m:ctrlPr></m:sSubPr><m:e><m:r><a:rPr lang="en-US" sz="2400" i="1"><a:latin typeface="Cambria Math" panose="02040503050406030204" pitchFamily="18" charset="0"/></a:rPr><m:t>𝑥</m:t></m:r></m:e><m:sub><m:r><a:rPr lang="en-US" sz="2400" i="1"><a:latin typeface="Cambria Math" panose="02040503050406030204" pitchFamily="18" charset="0"/></a:rPr><m:t>𝑡</m:t></m:r></m:sub></m:sSub><m:r><a:rPr lang="en-US" sz="2400" i="1"><a:latin typeface="Cambria Math" panose="02040503050406030204" pitchFamily="18" charset="0"/></a:rPr><m:t>|</m:t></m:r><m:sSub><m:sSubPr><m:ctrlPr><a:rPr lang="en-US" sz="2400" i="1"><a:latin typeface="Cambria Math" panose="02040503050406030204" pitchFamily="18" charset="0"/></a:rPr></m:ctrlPr></m:sSubPr><m:e><m:r><a:rPr lang="en-US" sz="2400" b="1" i="1"><a:latin typeface="Cambria Math" panose="02040503050406030204" pitchFamily="18" charset="0"/></a:rPr><m:t>𝑿</m:t></m:r></m:e><m:sub><m:r><a:rPr lang="en-US" sz="2400" b="0" i="1" smtClean="0"><a:latin typeface="Cambria Math" panose="02040503050406030204" pitchFamily="18" charset="0"/></a:rPr><m:t>𝑚</m:t></m:r></m:sub></m:sSub><m:r><a:rPr lang="en-US" sz="2400" i="1"><a:latin typeface="Cambria Math" panose="02040503050406030204" pitchFamily="18" charset="0"/></a:rPr><m:t>,</m:t></m:r><m:r><a:rPr lang="en-US" sz="2400" i="1"><a:latin typeface="Cambria Math" panose="02040503050406030204" pitchFamily="18" charset="0"/><a:ea typeface="Cambria Math" panose="02040503050406030204" pitchFamily="18" charset="0"/></a:rPr><m:t>𝜆</m:t></m:r><m:r><a:rPr lang="en-US" sz="2400" i="1"><a:latin typeface="Cambria Math" panose="02040503050406030204" pitchFamily="18" charset="0"/></a:rPr><m:t>)</m:t></m:r></m:e></m:func></m:oMath></a14:m><a:r><a:rPr lang="en-IN" sz="2400" dirty="0" smtClean="0"/><a:t>			     					</a:t></a:r><a:r><a:rPr lang="en-IN" sz="1700" dirty="0" smtClean="0"/><a:t>            [12]	</a:t></a:r><a:r><a:rPr lang="en-IN" sz="2400" dirty="0" smtClean="0"/><a:t>							</a:t></a:r></a:p><a:p><a:pPr marL="0" indent="0"><a:buNone/></a:pPr><a:r><a:rPr lang="en-US" sz="2400" dirty="0" smtClean="0"/><a:t>	</a:t></a:r><a14:m><m:oMath xmlns:m="http://schemas.openxmlformats.org/officeDocument/2006/math"><m:sSubSup><m:sSubSupPr><m:ctrlPr><a:rPr lang="en-US" sz="2400" i="1"><a:latin typeface="Cambria Math" panose="02040503050406030204" pitchFamily="18" charset="0"/></a:rPr></m:ctrlPr></m:sSubSupPr><m:e><m:r><a:rPr lang="en-US" sz="2400" b="0" i="1" smtClean="0"><a:latin typeface="Cambria Math" panose="02040503050406030204" pitchFamily="18" charset="0"/></a:rPr><m:t> </m:t></m:r><m:r><a:rPr lang="en-US" sz="2400" i="1"><a:latin typeface="Cambria Math" panose="02040503050406030204" pitchFamily="18" charset="0"/></a:rPr><m:t>𝑥</m:t></m:r></m:e><m:sub><m:r><a:rPr lang="en-US" sz="2400" b="0" i="1" smtClean="0"><a:latin typeface="Cambria Math" panose="02040503050406030204" pitchFamily="18" charset="0"/></a:rPr><m:t>𝑛</m:t></m:r><m:r><a:rPr lang="en-US" sz="2400" i="1"><a:latin typeface="Cambria Math" panose="02040503050406030204" pitchFamily="18" charset="0"/></a:rPr><m:t>𝑖𝑞</m:t></m:r></m:sub><m:sup><m:r><a:rPr lang="en-US" sz="2400" i="1"><a:latin typeface="Cambria Math" panose="02040503050406030204" pitchFamily="18" charset="0"/></a:rPr><m:t>∗</m:t></m:r></m:sup></m:sSubSup></m:oMath></a14:m><a:r><a:rPr lang="en-IN" sz="2400" dirty="0"/><a:t>=</a:t></a:r><a14:m><m:oMath xmlns:m="http://schemas.openxmlformats.org/officeDocument/2006/math"><m:func><m:funcPr><m:ctrlPr><a:rPr lang="en-IN" sz="2400" i="1" dirty="0"><a:latin typeface="Cambria Math" panose="02040503050406030204" pitchFamily="18" charset="0"/></a:rPr></m:ctrlPr></m:funcPr><m:fName><m:limLow><m:limLowPr><m:ctrlPr><a:rPr lang="en-IN" sz="2400" i="1" dirty="0"><a:latin typeface="Cambria Math" panose="02040503050406030204" pitchFamily="18" charset="0"/></a:rPr></m:ctrlPr></m:limLowPr><m:e><m:r><m:rPr><m:sty m:val="p"/></m:rPr><a:rPr lang="en-US" sz="2400" dirty="0"><a:latin typeface="Cambria Math" panose="02040503050406030204" pitchFamily="18" charset="0"/></a:rPr><m:t>arg</m:t></m:r><m:r><m:rPr><m:sty m:val="p"/></m:rPr><a:rPr lang="en-IN" sz="2400" dirty="0"><a:latin typeface="Cambria Math" panose="02040503050406030204" pitchFamily="18" charset="0"/></a:rPr><m:t>max</m:t></m:r></m:e><m:lim><m:sSub><m:sSubPr><m:ctrlPr><a:rPr lang="en-IN" sz="2400" i="1" dirty="0"><a:latin typeface="Cambria Math" panose="02040503050406030204" pitchFamily="18" charset="0"/></a:rPr></m:ctrlPr></m:sSubPr><m:e><m:r><a:rPr lang="en-US" sz="2400" i="1" dirty="0"><a:latin typeface="Cambria Math" panose="02040503050406030204" pitchFamily="18" charset="0"/></a:rPr><m:t>𝑥</m:t></m:r></m:e><m:sub><m:r><a:rPr lang="en-US" sz="2400" i="1" dirty="0"><a:latin typeface="Cambria Math" panose="02040503050406030204" pitchFamily="18" charset="0"/></a:rPr><m:t>𝑡</m:t></m:r></m:sub></m:sSub><m:r><a:rPr lang="en-IN" sz="2400" i="1" dirty="0"><a:latin typeface="Cambria Math" panose="02040503050406030204" pitchFamily="18" charset="0"/><a:ea typeface="Cambria Math" panose="02040503050406030204" pitchFamily="18" charset="0"/></a:rPr><m:t>𝜖</m:t></m:r><m:sSub><m:sSubPr><m:ctrlPr><a:rPr lang="en-US" sz="2400" i="1"><a:latin typeface="Cambria Math" panose="02040503050406030204" pitchFamily="18" charset="0"/></a:rPr></m:ctrlPr></m:sSubPr><m:e><m:r><a:rPr lang="en-US" sz="2400" b="1" i="1"><a:latin typeface="Cambria Math" panose="02040503050406030204" pitchFamily="18" charset="0"/></a:rPr><m:t>𝑿</m:t></m:r></m:e><m:sub><m:r><a:rPr lang="en-US" sz="2400" b="0" i="1" smtClean="0"><a:latin typeface="Cambria Math" panose="02040503050406030204" pitchFamily="18" charset="0"/></a:rPr><m:t>𝑛</m:t></m:r></m:sub></m:sSub></m:lim></m:limLow></m:fName><m:e><m:sSub><m:sSubPr><m:ctrlPr><a:rPr lang="en-US" sz="2400" i="1"><a:latin typeface="Cambria Math" panose="02040503050406030204" pitchFamily="18" charset="0"/></a:rPr></m:ctrlPr></m:sSubPr><m:e><m:r><a:rPr lang="en-US" sz="2400" i="1"><a:latin typeface="Cambria Math" panose="02040503050406030204" pitchFamily="18" charset="0"/></a:rPr><m:t>𝑅</m:t></m:r></m:e><m:sub><m:r><a:rPr lang="en-US" sz="2400" i="1"><a:latin typeface="Cambria Math" panose="02040503050406030204" pitchFamily="18" charset="0"/></a:rPr><m:t>𝑖𝑞</m:t></m:r></m:sub></m:sSub><m:r><a:rPr lang="en-US" sz="2400" i="1"><a:latin typeface="Cambria Math" panose="02040503050406030204" pitchFamily="18" charset="0"/></a:rPr><m:t>(</m:t></m:r><m:sSub><m:sSubPr><m:ctrlPr><a:rPr lang="en-US" sz="2400" i="1"><a:latin typeface="Cambria Math" panose="02040503050406030204" pitchFamily="18" charset="0"/></a:rPr></m:ctrlPr></m:sSubPr><m:e><m:r><a:rPr lang="en-US" sz="2400" i="1"><a:latin typeface="Cambria Math" panose="02040503050406030204" pitchFamily="18" charset="0"/></a:rPr><m:t>𝑥</m:t></m:r></m:e><m:sub><m:r><a:rPr lang="en-US" sz="2400" i="1"><a:latin typeface="Cambria Math" panose="02040503050406030204" pitchFamily="18" charset="0"/></a:rPr><m:t>𝑡</m:t></m:r></m:sub></m:sSub><m:r><a:rPr lang="en-US" sz="2400" i="1"><a:latin typeface="Cambria Math" panose="02040503050406030204" pitchFamily="18" charset="0"/></a:rPr><m:t>|</m:t></m:r><m:sSub><m:sSubPr><m:ctrlPr><a:rPr lang="en-US" sz="2400" i="1"><a:latin typeface="Cambria Math" panose="02040503050406030204" pitchFamily="18" charset="0"/></a:rPr></m:ctrlPr></m:sSubPr><m:e><m:r><a:rPr lang="en-US" sz="2400" b="1" i="1"><a:latin typeface="Cambria Math" panose="02040503050406030204" pitchFamily="18" charset="0"/></a:rPr><m:t>𝑿</m:t></m:r></m:e><m:sub><m:r><a:rPr lang="en-US" sz="2400" b="0" i="1" smtClean="0"><a:latin typeface="Cambria Math" panose="02040503050406030204" pitchFamily="18" charset="0"/></a:rPr><m:t>𝑛</m:t></m:r></m:sub></m:sSub><m:r><a:rPr lang="en-US" sz="2400" i="1"><a:latin typeface="Cambria Math" panose="02040503050406030204" pitchFamily="18" charset="0"/></a:rPr><m:t>,</m:t></m:r><m:r><a:rPr lang="en-US" sz="2400" i="1"><a:latin typeface="Cambria Math" panose="02040503050406030204" pitchFamily="18" charset="0"/><a:ea typeface="Cambria Math" panose="02040503050406030204" pitchFamily="18" charset="0"/></a:rPr><m:t>𝜆</m:t></m:r><m:r><a:rPr lang="en-US" sz="2400" i="1"><a:latin typeface="Cambria Math" panose="02040503050406030204" pitchFamily="18" charset="0"/></a:rPr><m:t>)</m:t></m:r></m:e></m:func></m:oMath></a14:m><a:r><a:rPr lang="en-IN" sz="2400" dirty="0" smtClean="0"/><a:t>							                      </a:t></a:r><a:r><a:rPr lang="en-IN" sz="1700" dirty="0" smtClean="0"/><a:t>[12]</a:t></a:r><a:endParaRPr lang="en-IN" sz="1700" dirty="0"/></a:p><a:p><a:pPr marL="0" indent="0"><a:buNone/></a:pPr><a:r><a:rPr lang="en-IN" sz="2400" dirty="0" smtClean="0"/><a:t>and</a:t></a:r></a:p><a:p><a14:m><m:oMath xmlns:m="http://schemas.openxmlformats.org/officeDocument/2006/math"><m:sSub><m:sSubPr><m:ctrlPr><a:rPr lang="en-US" sz="2400" b="0" i="1" smtClean="0"><a:latin typeface="Cambria Math" panose="02040503050406030204" pitchFamily="18" charset="0"/></a:rPr></m:ctrlPr></m:sSubPr><m:e><m:r><a:rPr lang="en-US" sz="2400" b="0" i="1" smtClean="0"><a:latin typeface="Cambria Math" panose="02040503050406030204" pitchFamily="18" charset="0"/></a:rPr><m:t>𝑅</m:t></m:r></m:e><m:sub><m:r><a:rPr lang="en-US" sz="2400" b="0" i="1" smtClean="0"><a:latin typeface="Cambria Math" panose="02040503050406030204" pitchFamily="18" charset="0"/></a:rPr><m:t>𝑖𝑞</m:t></m:r></m:sub></m:sSub><m:r><a:rPr lang="en-US" sz="2400" b="0" i="1" smtClean="0"><a:latin typeface="Cambria Math" panose="02040503050406030204" pitchFamily="18" charset="0"/></a:rPr><m:t>(</m:t></m:r><m:sSub><m:sSubPr><m:ctrlPr><a:rPr lang="en-US" sz="2400" b="0" i="1" smtClean="0"><a:latin typeface="Cambria Math" panose="02040503050406030204" pitchFamily="18" charset="0"/></a:rPr></m:ctrlPr></m:sSubPr><m:e><m:r><a:rPr lang="en-US" sz="2400" b="0" i="1" smtClean="0"><a:latin typeface="Cambria Math" panose="02040503050406030204" pitchFamily="18" charset="0"/></a:rPr><m:t>𝑥</m:t></m:r></m:e><m:sub><m:r><a:rPr lang="en-US" sz="2400" b="0" i="1" smtClean="0"><a:latin typeface="Cambria Math" panose="02040503050406030204" pitchFamily="18" charset="0"/></a:rPr><m:t>𝑡</m:t></m:r></m:sub></m:sSub><m:r><a:rPr lang="en-US" sz="2400" b="0" i="1" smtClean="0"><a:latin typeface="Cambria Math" panose="02040503050406030204" pitchFamily="18" charset="0"/></a:rPr><m:t>|</m:t></m:r><m:r><a:rPr lang="en-US" sz="2400" b="1" i="1" smtClean="0"><a:latin typeface="Cambria Math" panose="02040503050406030204" pitchFamily="18" charset="0"/></a:rPr><m:t>𝑿</m:t></m:r><m:r><a:rPr lang="en-US" sz="2400" b="0" i="1" smtClean="0"><a:latin typeface="Cambria Math" panose="02040503050406030204" pitchFamily="18" charset="0"/></a:rPr><m:t>,</m:t></m:r><m:r><a:rPr lang="en-US" sz="2400" b="0" i="1" smtClean="0"><a:latin typeface="Cambria Math" panose="02040503050406030204" pitchFamily="18" charset="0"/><a:ea typeface="Cambria Math" panose="02040503050406030204" pitchFamily="18" charset="0"/></a:rPr><m:t>𝜆</m:t></m:r><m:r><a:rPr lang="en-US" sz="2400" b="0" i="1" smtClean="0"><a:latin typeface="Cambria Math" panose="02040503050406030204" pitchFamily="18" charset="0"/></a:rPr><m:t>)</m:t></m:r></m:oMath></a14:m><a:r><a:rPr lang="en-IN" sz="2400" dirty="0" smtClean="0"/><a:t> = </a:t></a:r><a14:m><m:oMath xmlns:m="http://schemas.openxmlformats.org/officeDocument/2006/math"><m:sSub><m:sSubPr><m:ctrlPr><a:rPr lang="en-IN" sz="2400" i="1" smtClean="0"><a:latin typeface="Cambria Math" panose="02040503050406030204" pitchFamily="18" charset="0"/></a:rPr></m:ctrlPr></m:sSubPr><m:e><m:r><a:rPr lang="en-IN" sz="2400" i="1" smtClean="0"><a:latin typeface="Cambria Math" panose="02040503050406030204" pitchFamily="18" charset="0"/><a:ea typeface="Cambria Math" panose="02040503050406030204" pitchFamily="18" charset="0"/></a:rPr><m:t>𝜈</m:t></m:r></m:e><m:sub><m:r><a:rPr lang="en-US" sz="2400" b="0" i="1" smtClean="0"><a:latin typeface="Cambria Math" panose="02040503050406030204" pitchFamily="18" charset="0"/></a:rPr><m:t>𝑖𝑡</m:t></m:r></m:sub></m:sSub><m:sSub><m:sSubPr><m:ctrlPr><a:rPr lang="en-IN" sz="2400" i="1" smtClean="0"><a:latin typeface="Cambria Math" panose="02040503050406030204" pitchFamily="18" charset="0"/></a:rPr></m:ctrlPr></m:sSubPr><m:e><m:r><a:rPr lang="en-IN" sz="2400" i="1" smtClean="0"><a:latin typeface="Cambria Math" panose="02040503050406030204" pitchFamily="18" charset="0"/><a:ea typeface="Cambria Math" panose="02040503050406030204" pitchFamily="18" charset="0"/></a:rPr><m:t>𝛾</m:t></m:r></m:e><m:sub><m:r><a:rPr lang="en-US" sz="2400" b="0" i="1" smtClean="0"><a:latin typeface="Cambria Math" panose="02040503050406030204" pitchFamily="18" charset="0"/></a:rPr><m:t>𝑖𝑞</m:t></m:r></m:sub></m:sSub><m:r><a:rPr lang="en-US" sz="2400" b="0" i="1" smtClean="0"><a:latin typeface="Cambria Math" panose="02040503050406030204" pitchFamily="18" charset="0"/></a:rPr><m:t>(</m:t></m:r><m:sSub><m:sSubPr><m:ctrlPr><a:rPr lang="en-US" sz="2400" i="1"><a:latin typeface="Cambria Math" panose="02040503050406030204" pitchFamily="18" charset="0"/></a:rPr></m:ctrlPr></m:sSubPr><m:e><m:r><a:rPr lang="en-US" sz="2400" i="1"><a:latin typeface="Cambria Math" panose="02040503050406030204" pitchFamily="18" charset="0"/></a:rPr><m:t>𝑥</m:t></m:r></m:e><m:sub><m:r><a:rPr lang="en-US" sz="2400" i="1"><a:latin typeface="Cambria Math" panose="02040503050406030204" pitchFamily="18" charset="0"/></a:rPr><m:t>𝑡</m:t></m:r></m:sub></m:sSub><m:r><a:rPr lang="en-US" sz="2400" b="0" i="1" smtClean="0"><a:latin typeface="Cambria Math" panose="02040503050406030204" pitchFamily="18" charset="0"/></a:rPr><m:t>)</m:t></m:r></m:oMath></a14:m><a:endParaRPr lang="en-IN" sz="2400" dirty="0" smtClean="0"/></a:p><a:p><a14:m><m:oMath xmlns:m="http://schemas.openxmlformats.org/officeDocument/2006/math"><m:sSub><m:sSubPr><m:ctrlPr><a:rPr lang="en-IN" sz="2400" i="1"><a:latin typeface="Cambria Math" panose="02040503050406030204" pitchFamily="18" charset="0"/></a:rPr></m:ctrlPr></m:sSubPr><m:e><m:r><a:rPr lang="en-IN" sz="2400" i="1"><a:latin typeface="Cambria Math" panose="02040503050406030204" pitchFamily="18" charset="0"/><a:ea typeface="Cambria Math" panose="02040503050406030204" pitchFamily="18" charset="0"/></a:rPr><m:t>𝜈</m:t></m:r></m:e><m:sub><m:r><a:rPr lang="en-US" sz="2400" i="1"><a:latin typeface="Cambria Math" panose="02040503050406030204" pitchFamily="18" charset="0"/></a:rPr><m:t>𝑖𝑡</m:t></m:r></m:sub></m:sSub></m:oMath></a14:m><a:r><a:rPr lang="en-IN" sz="2400" dirty="0" smtClean="0"/><a:t>=</a:t></a:r><a14:m><m:oMath xmlns:m="http://schemas.openxmlformats.org/officeDocument/2006/math"><m:r><m:rPr><m:sty m:val="p"/></m:rPr><a:rPr lang="el-GR" sz="2400" i="1" dirty="0" smtClean="0"><a:latin typeface="Cambria Math" panose="02040503050406030204" pitchFamily="18" charset="0"/><a:ea typeface="Cambria Math" panose="02040503050406030204" pitchFamily="18" charset="0"/></a:rPr><m:t>Ρ</m:t></m:r><m:r><a:rPr lang="en-US" sz="2400" b="0" i="1" dirty="0" smtClean="0"><a:latin typeface="Cambria Math" panose="02040503050406030204" pitchFamily="18" charset="0"/><a:ea typeface="Cambria Math" panose="02040503050406030204" pitchFamily="18" charset="0"/></a:rPr><m:t>(</m:t></m:r><m:sSub><m:sSubPr><m:ctrlPr><a:rPr lang="en-US" sz="2400" b="0" i="1" dirty="0" smtClean="0"><a:latin typeface="Cambria Math" panose="02040503050406030204" pitchFamily="18" charset="0"/><a:ea typeface="Cambria Math" panose="02040503050406030204" pitchFamily="18" charset="0"/></a:rPr></m:ctrlPr></m:sSubPr><m:e><m:r><a:rPr lang="en-US" sz="2400" b="0" i="1" dirty="0" smtClean="0"><a:latin typeface="Cambria Math" panose="02040503050406030204" pitchFamily="18" charset="0"/><a:ea typeface="Cambria Math" panose="02040503050406030204" pitchFamily="18" charset="0"/></a:rPr><m:t>𝑠</m:t></m:r></m:e><m:sub><m:r><a:rPr lang="en-US" sz="2400" b="0" i="1" dirty="0" smtClean="0"><a:latin typeface="Cambria Math" panose="02040503050406030204" pitchFamily="18" charset="0"/><a:ea typeface="Cambria Math" panose="02040503050406030204" pitchFamily="18" charset="0"/></a:rPr><m:t>𝑡</m:t></m:r></m:sub></m:sSub><m:r><a:rPr lang="en-US" sz="2400" b="0" i="1" dirty="0" smtClean="0"><a:latin typeface="Cambria Math" panose="02040503050406030204" pitchFamily="18" charset="0"/><a:ea typeface="Cambria Math" panose="02040503050406030204" pitchFamily="18" charset="0"/></a:rPr><m:t>=</m:t></m:r><m:r><a:rPr lang="en-US" sz="2400" b="0" i="1" dirty="0" smtClean="0"><a:latin typeface="Cambria Math" panose="02040503050406030204" pitchFamily="18" charset="0"/><a:ea typeface="Cambria Math" panose="02040503050406030204" pitchFamily="18" charset="0"/></a:rPr><m:t>𝑖</m:t></m:r><m:r><a:rPr lang="en-US" sz="2400" b="0" i="1" dirty="0" smtClean="0"><a:latin typeface="Cambria Math" panose="02040503050406030204" pitchFamily="18" charset="0"/><a:ea typeface="Cambria Math" panose="02040503050406030204" pitchFamily="18" charset="0"/></a:rPr><m:t>|</m:t></m:r><m:r><a:rPr lang="en-US" sz="2400" b="1" i="1"><a:latin typeface="Cambria Math" panose="02040503050406030204" pitchFamily="18" charset="0"/></a:rPr><m:t>𝑿</m:t></m:r><m:r><a:rPr lang="en-US" sz="2400" i="1"><a:latin typeface="Cambria Math" panose="02040503050406030204" pitchFamily="18" charset="0"/></a:rPr><m:t>,</m:t></m:r><m:r><a:rPr lang="en-US" sz="2400" i="1"><a:latin typeface="Cambria Math" panose="02040503050406030204" pitchFamily="18" charset="0"/><a:ea typeface="Cambria Math" panose="02040503050406030204" pitchFamily="18" charset="0"/></a:rPr><m:t>𝜆</m:t></m:r><m:r><a:rPr lang="en-US" sz="2400" b="0" i="1" dirty="0" smtClean="0"><a:latin typeface="Cambria Math" panose="02040503050406030204" pitchFamily="18" charset="0"/><a:ea typeface="Cambria Math" panose="02040503050406030204" pitchFamily="18" charset="0"/></a:rPr><m:t>)</m:t></m:r></m:oMath></a14:m><a:r><a:rPr lang="en-IN" sz="2400" dirty="0" smtClean="0"/><a:t> is the probability of being in state </a:t></a:r><a14:m><m:oMath xmlns:m="http://schemas.openxmlformats.org/officeDocument/2006/math"><m:r><a:rPr lang="en-US" sz="2400" b="0" i="1" smtClean="0"><a:latin typeface="Cambria Math" panose="02040503050406030204" pitchFamily="18" charset="0"/></a:rPr><m:t>𝑖</m:t></m:r></m:oMath></a14:m><a:r><a:rPr lang="en-IN" sz="2400" dirty="0" smtClean="0"/><a:t> at time </a:t></a:r><a14:m><m:oMath xmlns:m="http://schemas.openxmlformats.org/officeDocument/2006/math"><m:r><a:rPr lang="en-US" sz="2400" b="0" i="1" smtClean="0"><a:latin typeface="Cambria Math" panose="02040503050406030204" pitchFamily="18" charset="0"/></a:rPr><m:t>𝑡</m:t></m:r><m:r><a:rPr lang="en-US" sz="2400" b="0" i="1" smtClean="0"><a:latin typeface="Cambria Math" panose="02040503050406030204" pitchFamily="18" charset="0"/></a:rPr><m:t>.</m:t></m:r></m:oMath></a14:m><a:endParaRPr lang="en-US" sz="2400" b="0" i="1" dirty="0" smtClean="0"><a:latin typeface="Cambria Math" panose="02040503050406030204" pitchFamily="18" charset="0"/></a:endParaRPr></a:p><a:p><a:pPr/><a14:m><m:oMath xmlns:m="http://schemas.openxmlformats.org/officeDocument/2006/math"><m:sSub><m:sSubPr><m:ctrlPr><a:rPr lang="en-IN" sz="2400" i="1"><a:latin typeface="Cambria Math" panose="02040503050406030204" pitchFamily="18" charset="0"/></a:rPr></m:ctrlPr></m:sSubPr><m:e><m:r><a:rPr lang="en-IN" sz="2400" i="1"><a:latin typeface="Cambria Math" panose="02040503050406030204" pitchFamily="18" charset="0"/><a:ea typeface="Cambria Math" panose="02040503050406030204" pitchFamily="18" charset="0"/></a:rPr><m:t>𝛾</m:t></m:r></m:e><m:sub><m:r><a:rPr lang="en-US" sz="2400" i="1"><a:latin typeface="Cambria Math" panose="02040503050406030204" pitchFamily="18" charset="0"/></a:rPr><m:t>𝑖𝑞</m:t></m:r></m:sub></m:sSub><m:d><m:dPr><m:ctrlPr><a:rPr lang="en-US" sz="2400" i="1"><a:latin typeface="Cambria Math" panose="02040503050406030204" pitchFamily="18" charset="0"/></a:rPr></m:ctrlPr></m:dPr><m:e><m:sSub><m:sSubPr><m:ctrlPr><a:rPr lang="en-US" sz="2400" i="1"><a:latin typeface="Cambria Math" panose="02040503050406030204" pitchFamily="18" charset="0"/></a:rPr></m:ctrlPr></m:sSubPr><m:e><m:r><a:rPr lang="en-US" sz="2400" i="1"><a:latin typeface="Cambria Math" panose="02040503050406030204" pitchFamily="18" charset="0"/></a:rPr><m:t>𝑥</m:t></m:r></m:e><m:sub><m:r><a:rPr lang="en-US" sz="2400" i="1"><a:latin typeface="Cambria Math" panose="02040503050406030204" pitchFamily="18" charset="0"/></a:rPr><m:t>𝑡</m:t></m:r></m:sub></m:sSub></m:e></m:d><m:r><a:rPr lang="en-US" sz="2400" b="0" i="1" smtClean="0"><a:latin typeface="Cambria Math" panose="02040503050406030204" pitchFamily="18" charset="0"/></a:rPr><m:t>= </m:t></m:r><m:f><m:fPr><m:ctrlPr><a:rPr lang="en-US" sz="2400" b="0" i="1" smtClean="0"><a:latin typeface="Cambria Math" panose="02040503050406030204" pitchFamily="18" charset="0"/></a:rPr></m:ctrlPr></m:fPr><m:num><m:sSub><m:sSubPr><m:ctrlPr><a:rPr lang="en-US" sz="2400" b="0" i="1" smtClean="0"><a:latin typeface="Cambria Math" panose="02040503050406030204" pitchFamily="18" charset="0"/></a:rPr></m:ctrlPr></m:sSubPr><m:e><m:r><a:rPr lang="en-US" sz="2400" b="0" i="1" smtClean="0"><a:latin typeface="Cambria Math" panose="02040503050406030204" pitchFamily="18" charset="0"/></a:rPr><m:t>𝑤</m:t></m:r></m:e><m:sub><m:r><a:rPr lang="en-US" sz="2400" b="0" i="1" smtClean="0"><a:latin typeface="Cambria Math" panose="02040503050406030204" pitchFamily="18" charset="0"/></a:rPr><m:t>𝑖𝑞</m:t></m:r></m:sub></m:sSub><m:r><a:rPr lang="en-US" sz="2400" b="0" i="1" smtClean="0"><a:latin typeface="Cambria Math" panose="02040503050406030204" pitchFamily="18" charset="0"/></a:rPr><m:t> </m:t></m:r><m:r><a:rPr lang="en-US" sz="2400" b="0" i="1" smtClean="0"><a:latin typeface="Cambria Math" panose="02040503050406030204" pitchFamily="18" charset="0"/><a:ea typeface="Cambria Math" panose="02040503050406030204" pitchFamily="18" charset="0"/></a:rPr><m:t>𝒩</m:t></m:r><m:r><a:rPr lang="en-US" sz="2400" b="0" i="1" smtClean="0"><a:latin typeface="Cambria Math" panose="02040503050406030204" pitchFamily="18" charset="0"/><a:ea typeface="Cambria Math" panose="02040503050406030204" pitchFamily="18" charset="0"/></a:rPr><m:t>(</m:t></m:r><m:sSub><m:sSubPr><m:ctrlPr><a:rPr lang="en-US" sz="2400" i="1"><a:latin typeface="Cambria Math" panose="02040503050406030204" pitchFamily="18" charset="0"/></a:rPr></m:ctrlPr></m:sSubPr><m:e><m:r><a:rPr lang="en-US" sz="2400" i="1"><a:latin typeface="Cambria Math" panose="02040503050406030204" pitchFamily="18" charset="0"/></a:rPr><m:t>𝑥</m:t></m:r></m:e><m:sub><m:r><a:rPr lang="en-US" sz="2400" i="1"><a:latin typeface="Cambria Math" panose="02040503050406030204" pitchFamily="18" charset="0"/></a:rPr><m:t>𝑡</m:t></m:r></m:sub></m:sSub><m:r><a:rPr lang="en-US" sz="2400" b="0" i="1" smtClean="0"><a:latin typeface="Cambria Math" panose="02040503050406030204" pitchFamily="18" charset="0"/></a:rPr><m:t>|</m:t></m:r><m:sSub><m:sSubPr><m:ctrlPr><a:rPr lang="en-US" sz="2400" b="1" i="1"><a:latin typeface="Cambria Math" panose="02040503050406030204" pitchFamily="18" charset="0"/></a:rPr></m:ctrlPr></m:sSubPr><m:e><m:r><a:rPr lang="en-US" sz="2400" b="1" i="1" smtClean="0"><a:latin typeface="Cambria Math" panose="02040503050406030204" pitchFamily="18" charset="0"/><a:ea typeface="Cambria Math" panose="02040503050406030204" pitchFamily="18" charset="0"/></a:rPr><m:t>𝝁</m:t></m:r></m:e><m:sub><m:r><a:rPr lang="en-US" sz="2400" b="1" i="1" smtClean="0"><a:latin typeface="Cambria Math" panose="02040503050406030204" pitchFamily="18" charset="0"/></a:rPr><m:t>𝒊𝒒</m:t></m:r></m:sub></m:sSub><m:r><a:rPr lang="en-US" sz="2400" b="0" i="1" smtClean="0"><a:latin typeface="Cambria Math" panose="02040503050406030204" pitchFamily="18" charset="0"/></a:rPr><m:t>,</m:t></m:r><m:sSub><m:sSubPr><m:ctrlPr><a:rPr lang="en-US" sz="2400" b="1" i="1"><a:latin typeface="Cambria Math" panose="02040503050406030204" pitchFamily="18" charset="0"/></a:rPr></m:ctrlPr></m:sSubPr><m:e><m:r><a:rPr lang="el-GR" sz="2400" b="1" i="1" smtClean="0"><a:latin typeface="Cambria Math" panose="02040503050406030204" pitchFamily="18" charset="0"/><a:ea typeface="Cambria Math" panose="02040503050406030204" pitchFamily="18" charset="0"/></a:rPr><m:t>𝜮</m:t></m:r></m:e><m:sub><m:r><a:rPr lang="en-US" sz="2400" b="1" i="1" smtClean="0"><a:latin typeface="Cambria Math" panose="02040503050406030204" pitchFamily="18" charset="0"/></a:rPr><m:t>𝒊𝒒</m:t></m:r></m:sub></m:sSub><m:r><a:rPr lang="en-US" sz="2400" b="0" i="1" smtClean="0"><a:latin typeface="Cambria Math" panose="02040503050406030204" pitchFamily="18" charset="0"/><a:ea typeface="Cambria Math" panose="02040503050406030204" pitchFamily="18" charset="0"/></a:rPr><m:t>)</m:t></m:r></m:num><m:den><m:nary><m:naryPr><m:chr m:val="∑"/><m:ctrlPr><a:rPr lang="en-US" sz="2400" b="0" i="1" smtClean="0"><a:latin typeface="Cambria Math" panose="02040503050406030204" pitchFamily="18" charset="0"/></a:rPr></m:ctrlPr></m:naryPr><m:sub><m:r><m:rPr><m:brk m:alnAt="23"/></m:rPr><a:rPr lang="en-US" sz="2400" b="0" i="1" smtClean="0"><a:latin typeface="Cambria Math" panose="02040503050406030204" pitchFamily="18" charset="0"/></a:rPr><m:t>𝑞</m:t></m:r><m:r><a:rPr lang="en-US" sz="2400" b="0" i="1" smtClean="0"><a:latin typeface="Cambria Math" panose="02040503050406030204" pitchFamily="18" charset="0"/></a:rPr><m:t>=1</m:t></m:r></m:sub><m:sup><m:sSub><m:sSubPr><m:ctrlPr><a:rPr lang="en-US" sz="2400" b="0" i="1" smtClean="0"><a:latin typeface="Cambria Math" panose="02040503050406030204" pitchFamily="18" charset="0"/></a:rPr></m:ctrlPr></m:sSubPr><m:e><m:r><a:rPr lang="en-US" sz="2400" b="0" i="1" smtClean="0"><a:latin typeface="Cambria Math" panose="02040503050406030204" pitchFamily="18" charset="0"/></a:rPr><m:t>𝑄</m:t></m:r></m:e><m:sub><m:r><a:rPr lang="en-US" sz="2400" b="0" i="1" smtClean="0"><a:latin typeface="Cambria Math" panose="02040503050406030204" pitchFamily="18" charset="0"/></a:rPr><m:t>𝑖</m:t></m:r></m:sub></m:sSub></m:sup><m:e><m:sSub><m:sSubPr><m:ctrlPr><a:rPr lang="en-US" sz="2400" i="1"><a:latin typeface="Cambria Math" panose="02040503050406030204" pitchFamily="18" charset="0"/></a:rPr></m:ctrlPr></m:sSubPr><m:e><m:r><a:rPr lang="en-US" sz="2400" i="1"><a:latin typeface="Cambria Math" panose="02040503050406030204" pitchFamily="18" charset="0"/></a:rPr><m:t>𝑤</m:t></m:r></m:e><m:sub><m:r><a:rPr lang="en-US" sz="2400" i="1"><a:latin typeface="Cambria Math" panose="02040503050406030204" pitchFamily="18" charset="0"/></a:rPr><m:t>𝑖𝑞</m:t></m:r></m:sub></m:sSub><m:r><a:rPr lang="en-US" sz="2400" i="1"><a:latin typeface="Cambria Math" panose="02040503050406030204" pitchFamily="18" charset="0"/></a:rPr><m:t> </m:t></m:r><m:r><a:rPr lang="en-US" sz="2400" i="1"><a:latin typeface="Cambria Math" panose="02040503050406030204" pitchFamily="18" charset="0"/><a:ea typeface="Cambria Math" panose="02040503050406030204" pitchFamily="18" charset="0"/></a:rPr><m:t>𝒩</m:t></m:r><m:r><a:rPr lang="en-US" sz="2400" i="1"><a:latin typeface="Cambria Math" panose="02040503050406030204" pitchFamily="18" charset="0"/><a:ea typeface="Cambria Math" panose="02040503050406030204" pitchFamily="18" charset="0"/></a:rPr><m:t>(</m:t></m:r><m:sSub><m:sSubPr><m:ctrlPr><a:rPr lang="en-US" sz="2400" i="1"><a:latin typeface="Cambria Math" panose="02040503050406030204" pitchFamily="18" charset="0"/></a:rPr></m:ctrlPr></m:sSubPr><m:e><m:r><a:rPr lang="en-US" sz="2400" i="1"><a:latin typeface="Cambria Math" panose="02040503050406030204" pitchFamily="18" charset="0"/></a:rPr><m:t>𝑥</m:t></m:r></m:e><m:sub><m:r><a:rPr lang="en-US" sz="2400" i="1"><a:latin typeface="Cambria Math" panose="02040503050406030204" pitchFamily="18" charset="0"/></a:rPr><m:t>𝑡</m:t></m:r></m:sub></m:sSub><m:r><a:rPr lang="en-US" sz="2400" i="1"><a:latin typeface="Cambria Math" panose="02040503050406030204" pitchFamily="18" charset="0"/></a:rPr><m:t>|</m:t></m:r><m:sSub><m:sSubPr><m:ctrlPr><a:rPr lang="en-US" sz="2400" b="1" i="1"><a:latin typeface="Cambria Math" panose="02040503050406030204" pitchFamily="18" charset="0"/></a:rPr></m:ctrlPr></m:sSubPr><m:e><m:r><a:rPr lang="en-US" sz="2400" b="1" i="1"><a:latin typeface="Cambria Math" panose="02040503050406030204" pitchFamily="18" charset="0"/><a:ea typeface="Cambria Math" panose="02040503050406030204" pitchFamily="18" charset="0"/></a:rPr><m:t>𝝁</m:t></m:r></m:e><m:sub><m:r><a:rPr lang="en-US" sz="2400" b="1" i="1"><a:latin typeface="Cambria Math" panose="02040503050406030204" pitchFamily="18" charset="0"/></a:rPr><m:t>𝒊𝒒</m:t></m:r></m:sub></m:sSub><m:r><a:rPr lang="en-US" sz="2400" i="1"><a:latin typeface="Cambria Math" panose="02040503050406030204" pitchFamily="18" charset="0"/></a:rPr><m:t>,</m:t></m:r><m:sSub><m:sSubPr><m:ctrlPr><a:rPr lang="en-US" sz="2400" b="1" i="1"><a:latin typeface="Cambria Math" panose="02040503050406030204" pitchFamily="18" charset="0"/></a:rPr></m:ctrlPr></m:sSubPr><m:e><m:r><a:rPr lang="el-GR" sz="2400" b="1" i="1"><a:latin typeface="Cambria Math" panose="02040503050406030204" pitchFamily="18" charset="0"/><a:ea typeface="Cambria Math" panose="02040503050406030204" pitchFamily="18" charset="0"/></a:rPr><m:t>𝜮</m:t></m:r></m:e><m:sub><m:r><a:rPr lang="en-US" sz="2400" b="1" i="1"><a:latin typeface="Cambria Math" panose="02040503050406030204" pitchFamily="18" charset="0"/></a:rPr><m:t>𝒊𝒒</m:t></m:r></m:sub></m:sSub><m:r><a:rPr lang="en-US" sz="2400" i="1"><a:latin typeface="Cambria Math" panose="02040503050406030204" pitchFamily="18" charset="0"/><a:ea typeface="Cambria Math" panose="02040503050406030204" pitchFamily="18" charset="0"/></a:rPr><m:t>)</m:t></m:r></m:e></m:nary></m:den></m:f></m:oMath></a14:m><a:r><a:rPr lang="en-IN" sz="2400" dirty="0" smtClean="0"/><a:t> is the responsibility term of component q of </a:t></a:r><a14:m><m:oMath xmlns:m="http://schemas.openxmlformats.org/officeDocument/2006/math"><m:r><m:rPr><m:sty m:val="p"/></m:rPr><a:rPr lang="en-US" sz="2400"><a:latin typeface="Cambria Math" panose="02040503050406030204" pitchFamily="18" charset="0"/></a:rPr><m:t>GMM</m:t></m:r><m:r><a:rPr lang="en-US" sz="2400"><a:latin typeface="Cambria Math" panose="02040503050406030204" pitchFamily="18" charset="0"/></a:rPr><m:t> </m:t></m:r><m:sSub><m:sSubPr><m:ctrlPr><a:rPr lang="en-US" sz="2400" i="1"><a:latin typeface="Cambria Math" panose="02040503050406030204" pitchFamily="18" charset="0"/></a:rPr></m:ctrlPr></m:sSubPr><m:e><m:r><m:rPr><m:sty m:val="p"/></m:rPr><a:rPr lang="el-GR" sz="2400" i="1"><a:latin typeface="Cambria Math" panose="02040503050406030204" pitchFamily="18" charset="0"/><a:ea typeface="Cambria Math" panose="02040503050406030204" pitchFamily="18" charset="0"/></a:rPr><m:t>Ψ</m:t></m:r></m:e><m:sub><m:r><a:rPr lang="en-US" sz="2400" i="1"><a:latin typeface="Cambria Math" panose="02040503050406030204" pitchFamily="18" charset="0"/></a:rPr><m:t>𝑖</m:t></m:r></m:sub></m:sSub></m:oMath></a14:m><a:r><a:rPr lang="en-IN" sz="2400" dirty="0" smtClean="0"/><a:t> for </a:t></a:r><a14:m><m:oMath xmlns:m="http://schemas.openxmlformats.org/officeDocument/2006/math"><m:sSub><m:sSubPr><m:ctrlPr><a:rPr lang="en-US" sz="2400" i="1"><a:latin typeface="Cambria Math" panose="02040503050406030204" pitchFamily="18" charset="0"/></a:rPr></m:ctrlPr></m:sSubPr><m:e><m:r><a:rPr lang="en-US" sz="2400" i="1"><a:latin typeface="Cambria Math" panose="02040503050406030204" pitchFamily="18" charset="0"/></a:rPr><m:t>𝑥</m:t></m:r></m:e><m:sub><m:r><a:rPr lang="en-US" sz="2400" i="1"><a:latin typeface="Cambria Math" panose="02040503050406030204" pitchFamily="18" charset="0"/></a:rPr><m:t>𝑡</m:t></m:r></m:sub></m:sSub></m:oMath></a14:m><a:r><a:rPr lang="en-IN" sz="2400" dirty="0" smtClean="0"/><a:t> </a:t></a:r></a:p><a:p><a14:m><m:oMath xmlns:m="http://schemas.openxmlformats.org/officeDocument/2006/math"><m:sSub><m:sSubPr><m:ctrlPr><a:rPr lang="en-IN" sz="2400" i="1" smtClean="0"><a:latin typeface="Cambria Math" panose="02040503050406030204" pitchFamily="18" charset="0"/></a:rPr></m:ctrlPr></m:sSubPr><m:e><m:r><a:rPr lang="en-US" sz="2400" b="0" i="1" smtClean="0"><a:latin typeface="Cambria Math" panose="02040503050406030204" pitchFamily="18" charset="0"/></a:rPr><m:t>𝑄</m:t></m:r></m:e><m:sub><m:r><a:rPr lang="en-US" sz="2400" b="0" i="1" smtClean="0"><a:latin typeface="Cambria Math" panose="02040503050406030204" pitchFamily="18" charset="0"/></a:rPr><m:t>𝑖</m:t></m:r></m:sub></m:sSub></m:oMath><span><m:r><m:t> </m:t></m:r><m:r><m:rPr><m:sty m:val="p"/></m:rPr><m:t>is</m:t></m:r><m:r><m:t> </m:t></m:r><m:r><m:rPr><m:sty m:val="p"/></m:rPr><m:t>the</m:t></m:r><m:r><m:t> </m:t></m:r><m:r><m:rPr><m:sty m:val="p"/></m:rPr><m:t>number</m:t></m:r><m:r><m:t> </m:t></m:r><m:r><m:rPr><m:sty m:val="p"/></m:rPr><m:t>of</m:t></m:r><m:r><m:t> </m:t></m:r><m:r><m:rPr><m:sty m:val="p"/></m:rPr><m:t>components</m:t></m:r><m:r><m:t> </m:t></m:r><m:r><m:rPr><m:sty m:val="p"/></m:rPr><m:t>of</m:t></m:r><m:r><m:t> </m:t></m:r><m:r><m:rPr><m:sty m:val="p"/></m:rPr><m:t>GMM</m:t></m:r><m:r><m:t> </m:t></m:r></span><m:sSub><m:sSubPr><m:ctrlPr><a:rPr lang="en-US" sz="2400" b="0" i="1" smtClean="0"><a:latin typeface="Cambria Math" panose="02040503050406030204" pitchFamily="18" charset="0"/></a:rPr></m:ctrlPr></m:sSubPr><m:e><m:r><m:rPr><m:sty m:val="p"/></m:rPr><a:rPr lang="el-GR" sz="2400" b="0" i="1" smtClean="0"><a:latin typeface="Cambria Math" panose="02040503050406030204" pitchFamily="18" charset="0"/><a:ea typeface="Cambria Math" panose="02040503050406030204" pitchFamily="18" charset="0"/></a:rPr><m:t>Ψ</m:t></m:r></m:e><m:sub><m:r><a:rPr lang="en-US" sz="2400" b="0" i="1" smtClean="0"><a:latin typeface="Cambria Math" panose="02040503050406030204" pitchFamily="18" charset="0"/></a:rPr><m:t>𝑖</m:t></m:r></m:sub></m:sSub></a14:m><a:endParaRPr lang="en-IN" sz="2400" dirty="0" smtClean="0"/></a:p><a:p><a14:m><m:oMath xmlns:m="http://schemas.openxmlformats.org/officeDocument/2006/math"><m:r><a:rPr lang="en-US" sz="2400" i="1"><a:latin typeface="Cambria Math" panose="02040503050406030204" pitchFamily="18" charset="0"/></a:rPr><m:t>𝑁</m:t></m:r></m:oMath></a14:m><a:r><a:rPr lang="en-IN" sz="2400" dirty="0" smtClean="0"/><a:t> is the number of states of the HMM and is equal to the number of GMM’s in the model</a:t></a:r></a:p><a:p><a:pPr marL="0" indent="0"><a:buNone/></a:pPr><a:endParaRPr lang="en-IN" sz="2400" dirty="0" smtClean="0"/></a:p><a:p><a:pPr marL="0" indent="0"><a:buNone/></a:pPr><a:endParaRPr lang="en-IN" sz="2400" dirty="0" smtClean="0"/></a:p><a:p><a:pPr marL="0" indent="0"><a:buNone/></a:pPr><a:endParaRPr lang="en-IN" sz="2400" dirty="0" smtClean="0"/></a:p></p:txBody></p:sp></mc:Choice><mc:Fallback><p:sp><p:nvSpPr><p:cNvPr id="9" name="Content Placeholder 2"/><p:cNvSpPr><a:spLocks noGrp="1" noRot="1" noChangeAspect="1" noMove="1" noResize="1" noEditPoints="1" noAdjustHandles="1" noChangeArrowheads="1" noChangeShapeType="1" noTextEdit="1"/></p:cNvSpPr><p:nvPr><p:ph idx="1"/></p:nvPr></p:nvSpPr><p:spPr><a:xfrm><a:off x="62752" y="1290918"/><a:ext cx="11994777" cy="4903975"/></a:xfrm><a:blipFill rotWithShape="0"><a:blip r:embed="rId3"/><a:stretch><a:fillRect l="-661" t="-2612" r="-305" b="-622"/></a:stretch></a:blipFill></p:spPr><p:txBody><a:bodyPr/><a:lstStyle/><a:p><a:r><a:rPr lang="en-US"><a:noFill/></a:rPr><a:t> </a:t></a:r></a:p></p:txBody></p:sp></mc:Fallback></mc:AlternateContent></p:spTree><p:extLst><p:ext uri="{BB962C8B-B14F-4D97-AF65-F5344CB8AC3E}"><p14:creationId xmlns:p14="http://schemas.microsoft.com/office/powerpoint/2010/main" val="1886660602"/></p:ext></p:extLst></p:cSld><p:clrMapOvr><a:masterClrMapping/></p:clrMapOvr><p:timing><p:tnLst><p:par><p:cTn id="1" dur="indefinite" restart="never" nodeType="tmRoot"/></p:par></p:tnLst></p:timing>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>
            <a:normAutofit fontScale="90000"/>
          </a:bodyPr>
          <a:lstStyle/>
          <a:p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  </a:t>
            </a:r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HMM-based Intermediate Matching Kernel(HIMK)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BDEFE609-C27E-4714-87BE-30DB1BD88B26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35</a:t>
            </a:fld>
            <a:endParaRPr lang="en-US" sz="140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178260"/>
            <a:ext cx="10515600" cy="44963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18447" y="5773271"/>
            <a:ext cx="8964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Figure: HIMK for videos</a:t>
            </a:r>
            <a:endParaRPr lang="en-US" dirty="0"/>
          </a:p>
        </p:txBody>
      </p:sp>
      <p:sp>
        <p:nvSpPr>
          <p:cNvPr id="15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2822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>
            <a:normAutofit/>
          </a:bodyPr>
          <a:lstStyle/>
          <a:p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  </a:t>
            </a:r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Results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BDEFE609-C27E-4714-87BE-30DB1BD88B26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36</a:t>
            </a:fld>
            <a:endParaRPr lang="en-US" sz="1400">
              <a:solidFill>
                <a:schemeClr val="bg1"/>
              </a:solidFill>
            </a:endParaRP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6948029"/>
              </p:ext>
            </p:extLst>
          </p:nvPr>
        </p:nvGraphicFramePr>
        <p:xfrm>
          <a:off x="838201" y="1090108"/>
          <a:ext cx="10802467" cy="498143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16064"/>
                <a:gridCol w="1516064"/>
                <a:gridCol w="1516064"/>
                <a:gridCol w="1516064"/>
                <a:gridCol w="1516064"/>
                <a:gridCol w="1516064"/>
                <a:gridCol w="1706083"/>
              </a:tblGrid>
              <a:tr h="588477"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Boxing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Handclapping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err="1" smtClean="0"/>
                        <a:t>Handwaving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Jogging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Running 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Walking</a:t>
                      </a:r>
                      <a:endParaRPr lang="en-US" b="0" dirty="0"/>
                    </a:p>
                  </a:txBody>
                  <a:tcPr/>
                </a:tc>
              </a:tr>
              <a:tr h="617261">
                <a:tc>
                  <a:txBody>
                    <a:bodyPr/>
                    <a:lstStyle/>
                    <a:p>
                      <a:r>
                        <a:rPr lang="en-US" b="0" dirty="0" smtClean="0"/>
                        <a:t>Boxing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63.7%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6.72%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2.61%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7.34%</a:t>
                      </a:r>
                      <a:endParaRPr lang="en-US" b="0" dirty="0" smtClean="0"/>
                    </a:p>
                    <a:p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15.9%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3.73%</a:t>
                      </a:r>
                      <a:endParaRPr lang="en-US" b="0" dirty="0"/>
                    </a:p>
                  </a:txBody>
                  <a:tcPr/>
                </a:tc>
              </a:tr>
              <a:tr h="617261">
                <a:tc>
                  <a:txBody>
                    <a:bodyPr/>
                    <a:lstStyle/>
                    <a:p>
                      <a:r>
                        <a:rPr lang="en-US" b="0" dirty="0" smtClean="0"/>
                        <a:t>Handclapping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11.31%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71.48%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8.41%</a:t>
                      </a:r>
                    </a:p>
                    <a:p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2.64%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5.11%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1.05%</a:t>
                      </a:r>
                      <a:endParaRPr lang="en-US" b="0" dirty="0" smtClean="0"/>
                    </a:p>
                    <a:p>
                      <a:endParaRPr lang="en-US" b="0" dirty="0"/>
                    </a:p>
                  </a:txBody>
                  <a:tcPr/>
                </a:tc>
              </a:tr>
              <a:tr h="617261">
                <a:tc>
                  <a:txBody>
                    <a:bodyPr/>
                    <a:lstStyle/>
                    <a:p>
                      <a:r>
                        <a:rPr lang="en-US" b="0" dirty="0" err="1" smtClean="0"/>
                        <a:t>Handwaving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18.26%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12.39%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65.34%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1.4%</a:t>
                      </a:r>
                      <a:endParaRPr lang="en-US" b="0" dirty="0" smtClean="0"/>
                    </a:p>
                    <a:p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2.03%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0.58%</a:t>
                      </a:r>
                      <a:endParaRPr lang="en-US" b="0" dirty="0" smtClean="0"/>
                    </a:p>
                    <a:p>
                      <a:endParaRPr lang="en-US" b="0" dirty="0"/>
                    </a:p>
                  </a:txBody>
                  <a:tcPr/>
                </a:tc>
              </a:tr>
              <a:tr h="617261">
                <a:tc>
                  <a:txBody>
                    <a:bodyPr/>
                    <a:lstStyle/>
                    <a:p>
                      <a:r>
                        <a:rPr lang="en-US" b="0" dirty="0" smtClean="0"/>
                        <a:t>Jogging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8.61%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1.26%</a:t>
                      </a:r>
                    </a:p>
                    <a:p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1.4%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49.54%</a:t>
                      </a:r>
                      <a:endParaRPr lang="en-US" b="1" dirty="0" smtClean="0"/>
                    </a:p>
                    <a:p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22.9%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16.29%</a:t>
                      </a:r>
                      <a:endParaRPr lang="en-US" b="0" dirty="0" smtClean="0"/>
                    </a:p>
                    <a:p>
                      <a:endParaRPr lang="en-US" b="0" dirty="0"/>
                    </a:p>
                  </a:txBody>
                  <a:tcPr/>
                </a:tc>
              </a:tr>
              <a:tr h="617261">
                <a:tc>
                  <a:txBody>
                    <a:bodyPr/>
                    <a:lstStyle/>
                    <a:p>
                      <a:r>
                        <a:rPr lang="en-US" b="0" dirty="0" smtClean="0"/>
                        <a:t>Running 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4.65%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0.16%</a:t>
                      </a:r>
                    </a:p>
                    <a:p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0.67%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19.61%</a:t>
                      </a:r>
                      <a:endParaRPr lang="en-US" b="0" dirty="0" smtClean="0"/>
                    </a:p>
                    <a:p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62.18%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12.73%</a:t>
                      </a:r>
                      <a:endParaRPr lang="en-US" b="0" dirty="0"/>
                    </a:p>
                  </a:txBody>
                  <a:tcPr/>
                </a:tc>
              </a:tr>
              <a:tr h="617261">
                <a:tc>
                  <a:txBody>
                    <a:bodyPr/>
                    <a:lstStyle/>
                    <a:p>
                      <a:r>
                        <a:rPr lang="en-US" b="0" dirty="0" smtClean="0"/>
                        <a:t>Walking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5.13%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2.19%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4.31%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23.47%</a:t>
                      </a:r>
                      <a:endParaRPr lang="en-US" b="0" dirty="0" smtClean="0"/>
                    </a:p>
                    <a:p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12.29%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52.61</a:t>
                      </a: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endParaRPr lang="en-US" b="0" dirty="0" smtClean="0"/>
                    </a:p>
                    <a:p>
                      <a:endParaRPr lang="en-US" b="0" dirty="0"/>
                    </a:p>
                  </a:txBody>
                  <a:tcPr/>
                </a:tc>
              </a:tr>
              <a:tr h="552481">
                <a:tc>
                  <a:txBody>
                    <a:bodyPr/>
                    <a:lstStyle/>
                    <a:p>
                      <a:r>
                        <a:rPr lang="en-US" b="1" dirty="0" smtClean="0"/>
                        <a:t>Accuracy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60.81%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94763" y="6044659"/>
            <a:ext cx="11089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Table: Percent wise Confusion Matrix using the proposed method for k=32</a:t>
            </a:r>
            <a:endParaRPr lang="en-US" dirty="0"/>
          </a:p>
        </p:txBody>
      </p:sp>
      <p:sp>
        <p:nvSpPr>
          <p:cNvPr id="15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0569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>
            <a:normAutofit/>
          </a:bodyPr>
          <a:lstStyle/>
          <a:p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  </a:t>
            </a:r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Results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BDEFE609-C27E-4714-87BE-30DB1BD88B26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37</a:t>
            </a:fld>
            <a:endParaRPr lang="en-US" sz="1400">
              <a:solidFill>
                <a:schemeClr val="bg1"/>
              </a:solidFill>
            </a:endParaRP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8740494"/>
              </p:ext>
            </p:extLst>
          </p:nvPr>
        </p:nvGraphicFramePr>
        <p:xfrm>
          <a:off x="1940859" y="1645920"/>
          <a:ext cx="8310282" cy="31031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155141"/>
                <a:gridCol w="4155141"/>
              </a:tblGrid>
              <a:tr h="58847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Representation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Accuracy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617261">
                <a:tc>
                  <a:txBody>
                    <a:bodyPr/>
                    <a:lstStyle/>
                    <a:p>
                      <a:pPr algn="just"/>
                      <a:r>
                        <a:rPr lang="en-US" sz="1800" kern="1200" dirty="0" smtClean="0"/>
                        <a:t>String kernel with Chi Square Metric </a:t>
                      </a:r>
                      <a:endParaRPr 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/>
                        <a:t>52.5%</a:t>
                      </a:r>
                      <a:endParaRPr lang="en-US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617261">
                <a:tc>
                  <a:txBody>
                    <a:bodyPr/>
                    <a:lstStyle/>
                    <a:p>
                      <a:pPr algn="just"/>
                      <a:r>
                        <a:rPr lang="en-US" sz="1800" kern="1200" dirty="0" smtClean="0"/>
                        <a:t>String kernel with Intersection metric</a:t>
                      </a:r>
                      <a:endParaRPr lang="en-US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/>
                        <a:t>51.48%</a:t>
                      </a:r>
                      <a:endParaRPr lang="en-US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617261">
                <a:tc>
                  <a:txBody>
                    <a:bodyPr/>
                    <a:lstStyle/>
                    <a:p>
                      <a:pPr algn="just"/>
                      <a:r>
                        <a:rPr lang="en-US" sz="1800" kern="1200" dirty="0" smtClean="0"/>
                        <a:t>String kernel with </a:t>
                      </a:r>
                      <a:r>
                        <a:rPr lang="en-US" sz="1800" kern="1200" dirty="0" err="1" smtClean="0"/>
                        <a:t>Kolomogrov</a:t>
                      </a:r>
                      <a:r>
                        <a:rPr lang="en-US" sz="1800" kern="1200" dirty="0" smtClean="0"/>
                        <a:t> Smirnov metric </a:t>
                      </a:r>
                      <a:endParaRPr lang="en-US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/>
                        <a:t>48.37%</a:t>
                      </a:r>
                      <a:endParaRPr lang="en-US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617261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/>
                        <a:t>Proposed method </a:t>
                      </a:r>
                      <a:endParaRPr 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/>
                        <a:t>60.81%</a:t>
                      </a:r>
                    </a:p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975" y="4915106"/>
            <a:ext cx="11089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Table: Comparison of accuracy of classification</a:t>
            </a:r>
            <a:endParaRPr lang="en-US" dirty="0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163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>
            <a:normAutofit/>
          </a:bodyPr>
          <a:lstStyle/>
          <a:p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  </a:t>
            </a:r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Conclusions &amp; Future Directions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BDEFE609-C27E-4714-87BE-30DB1BD88B26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38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46364" y="1289844"/>
            <a:ext cx="11289824" cy="4931662"/>
          </a:xfrm>
        </p:spPr>
        <p:txBody>
          <a:bodyPr/>
          <a:lstStyle/>
          <a:p>
            <a:pPr algn="just"/>
            <a:r>
              <a:rPr lang="en-US" b="1" dirty="0" smtClean="0"/>
              <a:t>Conclusion</a:t>
            </a:r>
          </a:p>
          <a:p>
            <a:pPr lvl="1" algn="just"/>
            <a:r>
              <a:rPr lang="en-US" dirty="0" smtClean="0"/>
              <a:t>We proposed to use HIMK based SVM classifier for the task of human activity recognition.</a:t>
            </a:r>
          </a:p>
          <a:p>
            <a:pPr lvl="1" algn="just"/>
            <a:r>
              <a:rPr lang="en-US" dirty="0" smtClean="0"/>
              <a:t>We discussed the feature extraction process to get a varying length representation for videos using the Bag of Features model using Histogram Match based K-</a:t>
            </a:r>
            <a:r>
              <a:rPr lang="en-US" dirty="0" err="1" smtClean="0"/>
              <a:t>medoids</a:t>
            </a:r>
            <a:r>
              <a:rPr lang="en-US" dirty="0" smtClean="0"/>
              <a:t> algorithm.</a:t>
            </a:r>
          </a:p>
          <a:p>
            <a:pPr lvl="1" algn="just"/>
            <a:r>
              <a:rPr lang="en-US" dirty="0" smtClean="0"/>
              <a:t>We then discussed about the HMM based IMK and how to use the HIMK for the task of classification for videos.</a:t>
            </a:r>
          </a:p>
          <a:p>
            <a:pPr lvl="1" algn="just"/>
            <a:endParaRPr lang="en-US" dirty="0" smtClean="0"/>
          </a:p>
          <a:p>
            <a:pPr algn="just"/>
            <a:r>
              <a:rPr lang="en-US" b="1" dirty="0" smtClean="0"/>
              <a:t>Future Work</a:t>
            </a:r>
          </a:p>
          <a:p>
            <a:pPr lvl="1" algn="just"/>
            <a:r>
              <a:rPr lang="en-US" dirty="0" smtClean="0"/>
              <a:t>Use of motion features for better representation.</a:t>
            </a:r>
          </a:p>
          <a:p>
            <a:pPr lvl="1" algn="just"/>
            <a:r>
              <a:rPr lang="en-US" dirty="0" smtClean="0"/>
              <a:t>Use of deep learning based feature representations for videos.</a:t>
            </a:r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7057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/>
          <a:lstStyle/>
          <a:p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  References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2249CB37-BDEE-4007-A8D3-FAFB9202F847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39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2752" y="1290918"/>
            <a:ext cx="12129247" cy="5201957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sz="1800" dirty="0"/>
              <a:t>Roach, M., Mason, J. S., Evans, N. W., Xu, L. Q., &amp; </a:t>
            </a:r>
            <a:r>
              <a:rPr lang="en-US" sz="1800" dirty="0" err="1"/>
              <a:t>Stentiford</a:t>
            </a:r>
            <a:r>
              <a:rPr lang="en-US" sz="1800" dirty="0"/>
              <a:t>, </a:t>
            </a:r>
            <a:r>
              <a:rPr lang="en-US" sz="1800" dirty="0" smtClean="0"/>
              <a:t>F. “Recent </a:t>
            </a:r>
            <a:r>
              <a:rPr lang="en-US" sz="1800" dirty="0"/>
              <a:t>Trends in Video Analysis: A Taxonomy of Video Classification </a:t>
            </a:r>
            <a:r>
              <a:rPr lang="en-US" sz="1800" dirty="0" smtClean="0"/>
              <a:t>Problems”, in</a:t>
            </a:r>
            <a:r>
              <a:rPr lang="en-US" sz="1800" dirty="0"/>
              <a:t> </a:t>
            </a:r>
            <a:r>
              <a:rPr lang="en-US" sz="1800" i="1" dirty="0" smtClean="0"/>
              <a:t>IMSA, 2002,</a:t>
            </a:r>
            <a:r>
              <a:rPr lang="en-US" sz="1800" dirty="0"/>
              <a:t> </a:t>
            </a:r>
            <a:r>
              <a:rPr lang="en-US" sz="1800" dirty="0" smtClean="0"/>
              <a:t>pp</a:t>
            </a:r>
            <a:r>
              <a:rPr lang="en-US" sz="1800" dirty="0"/>
              <a:t>. </a:t>
            </a:r>
            <a:r>
              <a:rPr lang="en-US" sz="1800" dirty="0" smtClean="0"/>
              <a:t>348-353.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1800" dirty="0" smtClean="0"/>
              <a:t>V</a:t>
            </a:r>
            <a:r>
              <a:rPr lang="en-US" sz="1800" dirty="0"/>
              <a:t>. Suresh, M. C Krishna, R. </a:t>
            </a:r>
            <a:r>
              <a:rPr lang="en-US" sz="1800" dirty="0" err="1"/>
              <a:t>Swamy</a:t>
            </a:r>
            <a:r>
              <a:rPr lang="en-US" sz="1800" dirty="0"/>
              <a:t> and B. </a:t>
            </a:r>
            <a:r>
              <a:rPr lang="en-US" sz="1800" dirty="0" err="1"/>
              <a:t>Yegnanarayana</a:t>
            </a:r>
            <a:r>
              <a:rPr lang="en-US" sz="1800" dirty="0"/>
              <a:t>, "Content-based video classification using support vector machines", in </a:t>
            </a:r>
            <a:r>
              <a:rPr lang="en-US" sz="1800" i="1" dirty="0"/>
              <a:t>International conference on neural information processing</a:t>
            </a:r>
            <a:r>
              <a:rPr lang="en-US" sz="1800" dirty="0"/>
              <a:t>, 2004, pp. 726-731. </a:t>
            </a:r>
            <a:endParaRPr lang="en-US" sz="1800" dirty="0" smtClean="0"/>
          </a:p>
          <a:p>
            <a:pPr marL="514350" indent="-514350" algn="just">
              <a:buFont typeface="+mj-lt"/>
              <a:buAutoNum type="arabicPeriod"/>
            </a:pPr>
            <a:r>
              <a:rPr lang="en-US" sz="1800" dirty="0" smtClean="0"/>
              <a:t>X</a:t>
            </a:r>
            <a:r>
              <a:rPr lang="en-US" sz="1800" dirty="0"/>
              <a:t>. Jiang, T. Sun, and S. Wang, "An automatic video content classification scheme based on combined visual features model with modified DAGSVM</a:t>
            </a:r>
            <a:r>
              <a:rPr lang="en-US" sz="1800" dirty="0" smtClean="0"/>
              <a:t>,“ in</a:t>
            </a:r>
            <a:r>
              <a:rPr lang="en-US" sz="1800" dirty="0"/>
              <a:t> </a:t>
            </a:r>
            <a:r>
              <a:rPr lang="en-US" sz="1800" i="1" dirty="0"/>
              <a:t>Multimedia Tools and Applications</a:t>
            </a:r>
            <a:r>
              <a:rPr lang="en-US" sz="1800" dirty="0"/>
              <a:t>, </a:t>
            </a:r>
            <a:r>
              <a:rPr lang="en-US" sz="1800" dirty="0"/>
              <a:t>2010 </a:t>
            </a:r>
            <a:r>
              <a:rPr lang="en-US" sz="1800" dirty="0" smtClean="0"/>
              <a:t>,vol</a:t>
            </a:r>
            <a:r>
              <a:rPr lang="en-US" sz="1800" dirty="0"/>
              <a:t>. 52, no. 1, pp. </a:t>
            </a:r>
            <a:r>
              <a:rPr lang="en-US" sz="1800" dirty="0" smtClean="0"/>
              <a:t>105–120.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1800" dirty="0"/>
              <a:t>Yuan, X., Lai, W., Mei, T., Hua, X. S., Wu, X. Q., &amp; Li, S</a:t>
            </a:r>
            <a:r>
              <a:rPr lang="en-US" sz="1800" dirty="0" smtClean="0"/>
              <a:t>., ”Automatic </a:t>
            </a:r>
            <a:r>
              <a:rPr lang="en-US" sz="1800" dirty="0"/>
              <a:t>video genre categorization using hierarchical </a:t>
            </a:r>
            <a:r>
              <a:rPr lang="en-US" sz="1800" dirty="0" smtClean="0"/>
              <a:t>SVM”, in </a:t>
            </a:r>
            <a:r>
              <a:rPr lang="en-US" sz="1800" i="1" dirty="0" smtClean="0"/>
              <a:t>International </a:t>
            </a:r>
            <a:r>
              <a:rPr lang="en-US" sz="1800" i="1" dirty="0"/>
              <a:t>Conference on Image </a:t>
            </a:r>
            <a:r>
              <a:rPr lang="en-US" sz="1800" i="1" dirty="0" smtClean="0"/>
              <a:t>Processing,  2006,</a:t>
            </a:r>
            <a:r>
              <a:rPr lang="en-US" sz="1800" dirty="0"/>
              <a:t> </a:t>
            </a:r>
            <a:r>
              <a:rPr lang="en-US" sz="1800" dirty="0" smtClean="0"/>
              <a:t>pp</a:t>
            </a:r>
            <a:r>
              <a:rPr lang="en-US" sz="1800" dirty="0"/>
              <a:t>. </a:t>
            </a:r>
            <a:r>
              <a:rPr lang="en-US" sz="1800" dirty="0" smtClean="0"/>
              <a:t>2905-2908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1800" dirty="0" smtClean="0"/>
              <a:t>L</a:t>
            </a:r>
            <a:r>
              <a:rPr lang="en-US" sz="1800" dirty="0"/>
              <a:t>. Ballan, M. </a:t>
            </a:r>
            <a:r>
              <a:rPr lang="en-US" sz="1800" dirty="0" err="1"/>
              <a:t>Bertini</a:t>
            </a:r>
            <a:r>
              <a:rPr lang="en-US" sz="1800" dirty="0"/>
              <a:t>, A. Del Bimbo, and G. Serra, "Video event classification using string kernels</a:t>
            </a:r>
            <a:r>
              <a:rPr lang="en-US" sz="1800" dirty="0" smtClean="0"/>
              <a:t>, in "</a:t>
            </a:r>
            <a:r>
              <a:rPr lang="en-US" sz="1800" i="1" dirty="0" smtClean="0"/>
              <a:t>Multimedia </a:t>
            </a:r>
            <a:r>
              <a:rPr lang="en-US" sz="1800" i="1" dirty="0"/>
              <a:t>Tools and Applications</a:t>
            </a:r>
            <a:r>
              <a:rPr lang="en-US" sz="1800" dirty="0"/>
              <a:t>, </a:t>
            </a:r>
            <a:r>
              <a:rPr lang="en-US" sz="1800" dirty="0"/>
              <a:t>2009 </a:t>
            </a:r>
            <a:r>
              <a:rPr lang="en-US" sz="1800" dirty="0" smtClean="0"/>
              <a:t> vol</a:t>
            </a:r>
            <a:r>
              <a:rPr lang="en-US" sz="1800" dirty="0"/>
              <a:t>. 48, no. 1, pp. </a:t>
            </a:r>
            <a:r>
              <a:rPr lang="en-US" sz="1800" dirty="0" smtClean="0"/>
              <a:t>69–87.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1800" dirty="0"/>
              <a:t>Xu, L. Q., &amp; Li, Y. </a:t>
            </a:r>
            <a:r>
              <a:rPr lang="en-US" sz="1800" dirty="0" smtClean="0"/>
              <a:t>“Video </a:t>
            </a:r>
            <a:r>
              <a:rPr lang="en-US" sz="1800" dirty="0"/>
              <a:t>classification using spatial-temporal features and </a:t>
            </a:r>
            <a:r>
              <a:rPr lang="en-US" sz="1800" dirty="0" smtClean="0"/>
              <a:t>PCA”, in </a:t>
            </a:r>
            <a:r>
              <a:rPr lang="en-US" sz="1800" dirty="0"/>
              <a:t>In </a:t>
            </a:r>
            <a:r>
              <a:rPr lang="en-US" sz="1800" i="1" dirty="0" smtClean="0"/>
              <a:t>International </a:t>
            </a:r>
            <a:r>
              <a:rPr lang="en-US" sz="1800" i="1" dirty="0"/>
              <a:t>Conference </a:t>
            </a:r>
            <a:r>
              <a:rPr lang="en-US" sz="1800" i="1" dirty="0" smtClean="0"/>
              <a:t>on </a:t>
            </a:r>
            <a:r>
              <a:rPr lang="en-US" sz="1800" i="1" dirty="0"/>
              <a:t>Multimedia and Expo </a:t>
            </a:r>
            <a:r>
              <a:rPr lang="en-US" sz="1800" i="1" dirty="0" smtClean="0"/>
              <a:t>,2003, v</a:t>
            </a:r>
            <a:r>
              <a:rPr lang="en-US" sz="1800" dirty="0" smtClean="0"/>
              <a:t>ol</a:t>
            </a:r>
            <a:r>
              <a:rPr lang="en-US" sz="1800" dirty="0"/>
              <a:t>. 3, </a:t>
            </a:r>
            <a:r>
              <a:rPr lang="en-US" sz="1800" dirty="0" smtClean="0"/>
              <a:t>pp: 3-485.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1800" dirty="0"/>
              <a:t>Sun, Chen, and Ram </a:t>
            </a:r>
            <a:r>
              <a:rPr lang="en-US" sz="1800" dirty="0" err="1"/>
              <a:t>Nevatia</a:t>
            </a:r>
            <a:r>
              <a:rPr lang="en-US" sz="1800" dirty="0"/>
              <a:t>. "Active: Activity concept transitions in video event classification." In </a:t>
            </a:r>
            <a:r>
              <a:rPr lang="en-US" sz="1800" i="1" dirty="0"/>
              <a:t>Proceedings of the IEEE International Conference on Computer Vision</a:t>
            </a:r>
            <a:r>
              <a:rPr lang="en-US" sz="1800" dirty="0"/>
              <a:t>, </a:t>
            </a:r>
            <a:r>
              <a:rPr lang="en-US" sz="1800" dirty="0"/>
              <a:t>2013 </a:t>
            </a:r>
            <a:r>
              <a:rPr lang="en-US" sz="1800" dirty="0" smtClean="0"/>
              <a:t>,pp</a:t>
            </a:r>
            <a:r>
              <a:rPr lang="en-US" sz="1800" dirty="0"/>
              <a:t>. </a:t>
            </a:r>
            <a:r>
              <a:rPr lang="en-US" sz="1800" dirty="0" smtClean="0"/>
              <a:t>913-920.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1800" dirty="0" err="1"/>
              <a:t>Dalal</a:t>
            </a:r>
            <a:r>
              <a:rPr lang="en-US" sz="1800" dirty="0"/>
              <a:t>, </a:t>
            </a:r>
            <a:r>
              <a:rPr lang="en-US" sz="1800" dirty="0" err="1"/>
              <a:t>Navneet</a:t>
            </a:r>
            <a:r>
              <a:rPr lang="en-US" sz="1800" dirty="0"/>
              <a:t>, and Bill </a:t>
            </a:r>
            <a:r>
              <a:rPr lang="en-US" sz="1800" dirty="0" err="1"/>
              <a:t>Triggs</a:t>
            </a:r>
            <a:r>
              <a:rPr lang="en-US" sz="1800" dirty="0"/>
              <a:t>. "Histograms of oriented gradients for human detection." In</a:t>
            </a:r>
            <a:r>
              <a:rPr lang="en-US" sz="1800" i="1" dirty="0"/>
              <a:t> IEEE Computer Society Conference on Computer Vision and Pattern Recognition,2005</a:t>
            </a:r>
            <a:r>
              <a:rPr lang="en-US" sz="1800" dirty="0"/>
              <a:t>, vol. 1, pp. 886-893</a:t>
            </a:r>
            <a:r>
              <a:rPr lang="en-US" sz="1800" dirty="0" smtClean="0"/>
              <a:t>.</a:t>
            </a:r>
            <a:endParaRPr lang="en-US" sz="1800" dirty="0" smtClean="0"/>
          </a:p>
        </p:txBody>
      </p:sp>
      <p:sp>
        <p:nvSpPr>
          <p:cNvPr id="15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65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/>
          <a:lstStyle/>
          <a:p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  References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2249CB37-BDEE-4007-A8D3-FAFB9202F847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40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3765" y="1305342"/>
            <a:ext cx="1154654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 startAt="9"/>
            </a:pPr>
            <a:r>
              <a:rPr lang="en-US" dirty="0" err="1" smtClean="0"/>
              <a:t>Vapnik</a:t>
            </a:r>
            <a:r>
              <a:rPr lang="en-US" dirty="0"/>
              <a:t>, Vladimir N. "An overview of statistical learning </a:t>
            </a:r>
            <a:r>
              <a:rPr lang="en-US" dirty="0" smtClean="0"/>
              <a:t>theory“ in</a:t>
            </a:r>
            <a:r>
              <a:rPr lang="en-US" dirty="0"/>
              <a:t> </a:t>
            </a:r>
            <a:r>
              <a:rPr lang="en-US" i="1" dirty="0"/>
              <a:t>IEEE transactions on neural </a:t>
            </a:r>
            <a:r>
              <a:rPr lang="en-US" i="1" dirty="0" smtClean="0"/>
              <a:t>networks,1999,</a:t>
            </a:r>
            <a:r>
              <a:rPr lang="en-US" dirty="0"/>
              <a:t> </a:t>
            </a:r>
            <a:r>
              <a:rPr lang="en-US" dirty="0" smtClean="0"/>
              <a:t>vol. 10,no 5, pp : </a:t>
            </a:r>
            <a:r>
              <a:rPr lang="en-US" dirty="0"/>
              <a:t>988-999.</a:t>
            </a:r>
            <a:r>
              <a:rPr lang="en-US" dirty="0" smtClean="0"/>
              <a:t> </a:t>
            </a:r>
          </a:p>
          <a:p>
            <a:pPr marL="342900" indent="-342900" algn="just">
              <a:buFont typeface="+mj-lt"/>
              <a:buAutoNum type="arabicPeriod" startAt="9"/>
            </a:pPr>
            <a:r>
              <a:rPr lang="en-US" dirty="0" err="1" smtClean="0"/>
              <a:t>Dileep</a:t>
            </a:r>
            <a:r>
              <a:rPr lang="en-US" dirty="0"/>
              <a:t>, A. D., T. </a:t>
            </a:r>
            <a:r>
              <a:rPr lang="en-US" dirty="0" err="1"/>
              <a:t>Veena</a:t>
            </a:r>
            <a:r>
              <a:rPr lang="en-US" dirty="0"/>
              <a:t>, and C. Chandra </a:t>
            </a:r>
            <a:r>
              <a:rPr lang="en-US" dirty="0" err="1" smtClean="0"/>
              <a:t>Sekhar</a:t>
            </a:r>
            <a:r>
              <a:rPr lang="en-US" dirty="0"/>
              <a:t> </a:t>
            </a:r>
            <a:r>
              <a:rPr lang="en-US" dirty="0" smtClean="0"/>
              <a:t>"A </a:t>
            </a:r>
            <a:r>
              <a:rPr lang="en-US" dirty="0"/>
              <a:t>review of kernel methods based approaches to classification and clustering of sequential patterns, part i: sequences of continuous feature vectors</a:t>
            </a:r>
            <a:r>
              <a:rPr lang="en-US" dirty="0" smtClean="0"/>
              <a:t>.“ in</a:t>
            </a:r>
            <a:r>
              <a:rPr lang="en-US" dirty="0"/>
              <a:t> </a:t>
            </a:r>
            <a:r>
              <a:rPr lang="en-US" i="1" dirty="0"/>
              <a:t>Data Mining: Concepts, Methodologies, Tools, and Applications: Concepts, Methodologies, Tools, and </a:t>
            </a:r>
            <a:r>
              <a:rPr lang="en-US" i="1" dirty="0" smtClean="0"/>
              <a:t>Applications</a:t>
            </a:r>
            <a:r>
              <a:rPr lang="en-US" dirty="0"/>
              <a:t>,</a:t>
            </a:r>
            <a:r>
              <a:rPr lang="en-US" dirty="0" smtClean="0"/>
              <a:t> 2012,vol. 1, pp: 1-251.</a:t>
            </a:r>
          </a:p>
          <a:p>
            <a:pPr marL="342900" indent="-342900" algn="just">
              <a:buFont typeface="+mj-lt"/>
              <a:buAutoNum type="arabicPeriod" startAt="9"/>
            </a:pPr>
            <a:r>
              <a:rPr lang="en-US" dirty="0" err="1" smtClean="0"/>
              <a:t>Dileep</a:t>
            </a:r>
            <a:r>
              <a:rPr lang="en-US" dirty="0"/>
              <a:t>, </a:t>
            </a:r>
            <a:r>
              <a:rPr lang="en-US" dirty="0" err="1"/>
              <a:t>Aroor</a:t>
            </a:r>
            <a:r>
              <a:rPr lang="en-US" dirty="0"/>
              <a:t> Dinesh, and </a:t>
            </a:r>
            <a:r>
              <a:rPr lang="en-US" dirty="0" err="1"/>
              <a:t>Chellu</a:t>
            </a:r>
            <a:r>
              <a:rPr lang="en-US" dirty="0"/>
              <a:t> Chandra </a:t>
            </a:r>
            <a:r>
              <a:rPr lang="en-US" dirty="0" err="1" smtClean="0"/>
              <a:t>Sekhar</a:t>
            </a:r>
            <a:r>
              <a:rPr lang="en-US" dirty="0" smtClean="0"/>
              <a:t> </a:t>
            </a:r>
            <a:r>
              <a:rPr lang="en-US" dirty="0"/>
              <a:t>"GMM-based intermediate matching kernel for classification of varying length patterns of long duration speech using support vector </a:t>
            </a:r>
            <a:r>
              <a:rPr lang="en-US" dirty="0" smtClean="0"/>
              <a:t>machines“ in</a:t>
            </a:r>
            <a:r>
              <a:rPr lang="en-US" dirty="0"/>
              <a:t> </a:t>
            </a:r>
            <a:r>
              <a:rPr lang="en-US" i="1" dirty="0"/>
              <a:t>IEEE transactions on neural networks and learning </a:t>
            </a:r>
            <a:r>
              <a:rPr lang="en-US" i="1" dirty="0" smtClean="0"/>
              <a:t>systems, 2014, vol.</a:t>
            </a:r>
            <a:r>
              <a:rPr lang="en-US" dirty="0"/>
              <a:t> 25, no. </a:t>
            </a:r>
            <a:r>
              <a:rPr lang="en-US" dirty="0" smtClean="0"/>
              <a:t>8, pp: </a:t>
            </a:r>
            <a:r>
              <a:rPr lang="en-US" dirty="0"/>
              <a:t>1421-1432. </a:t>
            </a:r>
            <a:endParaRPr lang="en-US" dirty="0" smtClean="0"/>
          </a:p>
          <a:p>
            <a:pPr marL="342900" indent="-342900" algn="just">
              <a:buFont typeface="+mj-lt"/>
              <a:buAutoNum type="arabicPeriod" startAt="9"/>
            </a:pPr>
            <a:r>
              <a:rPr lang="en-US" dirty="0" err="1" smtClean="0"/>
              <a:t>Dileep</a:t>
            </a:r>
            <a:r>
              <a:rPr lang="en-US" dirty="0"/>
              <a:t>, A. D., and C. Chandra </a:t>
            </a:r>
            <a:r>
              <a:rPr lang="en-US" dirty="0" err="1" smtClean="0"/>
              <a:t>Sekhar</a:t>
            </a:r>
            <a:r>
              <a:rPr lang="en-US" dirty="0" smtClean="0"/>
              <a:t> </a:t>
            </a:r>
            <a:r>
              <a:rPr lang="en-US" dirty="0"/>
              <a:t>"HMM based intermediate matching kernel for classification of sequential patterns of speech using support vector machines</a:t>
            </a:r>
            <a:r>
              <a:rPr lang="en-US" dirty="0" smtClean="0"/>
              <a:t>. in</a:t>
            </a:r>
            <a:r>
              <a:rPr lang="en-US" dirty="0"/>
              <a:t> </a:t>
            </a:r>
            <a:r>
              <a:rPr lang="en-US" i="1" dirty="0"/>
              <a:t>IEEE Transactions on Audio, Speech, and Language </a:t>
            </a:r>
            <a:r>
              <a:rPr lang="en-US" i="1" dirty="0" smtClean="0"/>
              <a:t>Processing, 2013, vol. </a:t>
            </a:r>
            <a:r>
              <a:rPr lang="en-US" dirty="0" smtClean="0"/>
              <a:t>21</a:t>
            </a:r>
            <a:r>
              <a:rPr lang="en-US" dirty="0"/>
              <a:t>, no. </a:t>
            </a:r>
            <a:r>
              <a:rPr lang="en-US" dirty="0" smtClean="0"/>
              <a:t>12, pp: </a:t>
            </a:r>
            <a:r>
              <a:rPr lang="en-US" dirty="0"/>
              <a:t>2570-2582.</a:t>
            </a:r>
            <a:endParaRPr lang="en-IN" dirty="0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390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2329"/>
          </a:xfrm>
          <a:gradFill flip="none" rotWithShape="1">
            <a:gsLst>
              <a:gs pos="0">
                <a:srgbClr val="3333CC">
                  <a:shade val="30000"/>
                  <a:satMod val="115000"/>
                </a:srgbClr>
              </a:gs>
              <a:gs pos="46000">
                <a:srgbClr val="141487"/>
              </a:gs>
              <a:gs pos="79000">
                <a:srgbClr val="3333CC">
                  <a:shade val="67500"/>
                  <a:satMod val="115000"/>
                </a:srgbClr>
              </a:gs>
            </a:gsLst>
            <a:lin ang="10800000" scaled="1"/>
            <a:tileRect/>
          </a:gradFill>
        </p:spPr>
        <p:txBody>
          <a:bodyPr/>
          <a:lstStyle/>
          <a:p>
            <a:r>
              <a:rPr lang="en-I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  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9161B454-E839-4B84-BBE8-E4D00F988669}" type="datetime4">
              <a:rPr lang="en-US" sz="1400" smtClean="0">
                <a:solidFill>
                  <a:schemeClr val="bg1"/>
                </a:solidFill>
              </a:rPr>
              <a:t>July 8, 2016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946C6125-2373-41E2-A762-824518743ED3}" type="slidenum">
              <a:rPr lang="en-US" sz="1400" smtClean="0">
                <a:solidFill>
                  <a:schemeClr val="bg1"/>
                </a:solidFill>
              </a:rPr>
              <a:t>41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62752" y="1290918"/>
            <a:ext cx="12129247" cy="49039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IN" sz="4400" dirty="0" smtClean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 smtClean="0"/>
          </a:p>
          <a:p>
            <a:pPr marL="0" indent="0" algn="ctr">
              <a:buNone/>
            </a:pPr>
            <a:r>
              <a:rPr lang="en-IN" sz="4400" dirty="0" smtClean="0"/>
              <a:t>THANK YOU</a:t>
            </a:r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02321" y="6492874"/>
            <a:ext cx="6665259" cy="365125"/>
          </a:xfrm>
        </p:spPr>
        <p:txBody>
          <a:bodyPr/>
          <a:lstStyle/>
          <a:p>
            <a:r>
              <a:rPr lang="en-US" sz="1400" dirty="0" smtClean="0">
                <a:solidFill>
                  <a:schemeClr val="bg1"/>
                </a:solidFill>
              </a:rPr>
              <a:t>Human Activity Recognition using HIMK by representing videos as sets of feature vectors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206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1629</TotalTime>
  <Words>2875</Words>
  <Application>Microsoft Office PowerPoint</Application>
  <PresentationFormat>Widescreen</PresentationFormat>
  <Paragraphs>709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Arial Unicode MS</vt:lpstr>
      <vt:lpstr>Arial</vt:lpstr>
      <vt:lpstr>Calibri</vt:lpstr>
      <vt:lpstr>Calibri Light</vt:lpstr>
      <vt:lpstr>Cambria Math</vt:lpstr>
      <vt:lpstr>Century Schoolbook</vt:lpstr>
      <vt:lpstr>Georgia</vt:lpstr>
      <vt:lpstr>Microsoft Himalaya</vt:lpstr>
      <vt:lpstr>Wingdings</vt:lpstr>
      <vt:lpstr>Office Theme</vt:lpstr>
      <vt:lpstr>PowerPoint Presentation</vt:lpstr>
      <vt:lpstr>  Outline</vt:lpstr>
      <vt:lpstr>  Human Activity Recognition</vt:lpstr>
      <vt:lpstr>Classification of videos </vt:lpstr>
      <vt:lpstr>  Classification of videos : Types of patterns</vt:lpstr>
      <vt:lpstr>Classification of videos : Types of patterns</vt:lpstr>
      <vt:lpstr>Classification of videos : Types of patterns</vt:lpstr>
      <vt:lpstr>Classification of videos : Challenges</vt:lpstr>
      <vt:lpstr>Classification of videos : Challenges</vt:lpstr>
      <vt:lpstr>Classification of videos : Challenges</vt:lpstr>
      <vt:lpstr>Classification of videos : Challenges</vt:lpstr>
      <vt:lpstr>Classification of videos : Challenges</vt:lpstr>
      <vt:lpstr>Problem Statement</vt:lpstr>
      <vt:lpstr>Related Work</vt:lpstr>
      <vt:lpstr>Related Work</vt:lpstr>
      <vt:lpstr>Related Work</vt:lpstr>
      <vt:lpstr>Related Work</vt:lpstr>
      <vt:lpstr>Related Work</vt:lpstr>
      <vt:lpstr>Related Work</vt:lpstr>
      <vt:lpstr>Related Work</vt:lpstr>
      <vt:lpstr>  Proposed Solution</vt:lpstr>
      <vt:lpstr>  Proposed Model: Feature Extraction</vt:lpstr>
      <vt:lpstr> Proposed Model: Feature Extraction</vt:lpstr>
      <vt:lpstr> Proposed Model: Feature Extraction</vt:lpstr>
      <vt:lpstr>   Video Representation: Bag of words model</vt:lpstr>
      <vt:lpstr>Histogram Matching Score based K-medoid clustering</vt:lpstr>
      <vt:lpstr>Histogram Matching Score based K-medoid clustering</vt:lpstr>
      <vt:lpstr>Histogram Matching Score based K-medoid clustering</vt:lpstr>
      <vt:lpstr>  SVM Classifier</vt:lpstr>
      <vt:lpstr>  Kernel based methods for SVM</vt:lpstr>
      <vt:lpstr>  Sequence Kernel/Dynamic Kernel</vt:lpstr>
      <vt:lpstr>Intermediate Matching Kernel(IMK)</vt:lpstr>
      <vt:lpstr>  HMM-based Intermediate Matching Kernel(HIMK)</vt:lpstr>
      <vt:lpstr>  HMM-based Intermediate Matching Kernel(HIMK)</vt:lpstr>
      <vt:lpstr>  HMM-based Intermediate Matching Kernel(HIMK)</vt:lpstr>
      <vt:lpstr>  Results</vt:lpstr>
      <vt:lpstr>  Results</vt:lpstr>
      <vt:lpstr>  Conclusions &amp; Future Directions</vt:lpstr>
      <vt:lpstr>  References</vt:lpstr>
      <vt:lpstr>  References</vt:lpstr>
      <vt:lpstr> 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Classification using Sequence Kernels</dc:title>
  <dc:creator>Rupali Bhatnagar</dc:creator>
  <cp:lastModifiedBy>Rupali Bhatnagar</cp:lastModifiedBy>
  <cp:revision>332</cp:revision>
  <dcterms:created xsi:type="dcterms:W3CDTF">2016-02-23T02:23:01Z</dcterms:created>
  <dcterms:modified xsi:type="dcterms:W3CDTF">2016-07-08T18:29:35Z</dcterms:modified>
</cp:coreProperties>
</file>